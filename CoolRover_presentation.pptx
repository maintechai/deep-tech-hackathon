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3"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spc="0">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spc="0">
                <a:solidFill>
                  <a:schemeClr val="dk1"/>
                </a:solidFill>
                <a:latin typeface="Calibri"/>
                <a:ea typeface="Calibri"/>
                <a:cs typeface="Calibri"/>
                <a:sym typeface="Calibri"/>
              </a:rPr>
              <a:t>‹#›</a:t>
            </a:fld>
            <a:endParaRPr sz="1200" b="0" i="0" u="none" strike="noStrike" cap="none" spc="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Google Shape;2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 name="Google Shape;29;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RATIONALE 0:00–1:00 (slides 1–2). ~15 s here.</a:t>
            </a:r>
            <a:endParaRPr/>
          </a:p>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'We are Cool Rover, Challenge 1: a small robot that measures distance to obstacles and avoids them. Our rover gets its eyes from a camera in the room — the camera knows where the robot is, the robot's sonar measures what is in front of it.'</a:t>
            </a:r>
            <a:endParaRPr/>
          </a:p>
        </p:txBody>
      </p:sp>
      <p:sp>
        <p:nvSpPr>
          <p:cNvPr id="30" name="Google Shape;30;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2" name="Google Shape;10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~45 s. 'Today the industry spends a lot to give robots vision. Delivery robots, robot vacuums — every one of them carries its own LiDAR, cameras and sonars. That makes them expensive and power-hungry, but also heavy, complicated and hard to maintain. Yet the vision already exists almost everywhere: CCTV inside buildings, in private homes, on the streets of big cities. Our prototype reuses that vision. A camera in the room tells the robot where it is; the robot itself carries no LiDAR, no camera — just one cheap sonar.' If asked for numbers: savings in cost, power and weight are the goal; we have not measured them yet.</a:t>
            </a:r>
            <a:endParaRPr/>
          </a:p>
        </p:txBody>
      </p:sp>
      <p:sp>
        <p:nvSpPr>
          <p:cNvPr id="103" name="Google Shape;10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TECHNICAL EXECUTION 1:00–2:30 (slides 3–5). ~35 s here. Из серв</a:t>
            </a:r>
            <a:r>
              <a:rPr lang="en-US"/>
              <a:t>ера - координаты и куда двигаться</a:t>
            </a:r>
            <a:endParaRPr/>
          </a:p>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'The phone above the arena sees four corner markers and one marker on the rover. It sends only marker coordinates — a few bytes, not video. The Python server on a laptop turns pixels into centimetres, keeps the obstacle map, plans the route and sends every wheel command, 10 times a second. The rover — Arduino UNO R4 WiFi, two DC motors, one HC-SR04 sonar — drives, reports its sonar distance and enforces a 20 cm hard stop. Everything is controlled from a browser console: click to go, go home, follow me, joystick.' Why this split: the rover has no encoders or gyro, so it cannot know where it is by itself; the camera gives it its true position.</a:t>
            </a:r>
            <a:endParaRPr/>
          </a:p>
        </p:txBody>
      </p:sp>
      <p:sp>
        <p:nvSpPr>
          <p:cNvPr id="137" name="Google Shape;137;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9" name="Google Shape;169;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Backup — do not present unless asked about hardware. Hold up the real rover: kit electronics inside, 3D-printed shell and hatch.</a:t>
            </a:r>
            <a:endParaRPr/>
          </a:p>
        </p:txBody>
      </p:sp>
      <p:sp>
        <p:nvSpPr>
          <p:cNvPr id="170" name="Google Shape;170;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7" name="Google Shape;207;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~35 s. Both challenge requirements on one slide. 'Distance: the sonar still measures what is in front. Because the camera knows where the rover is and which way it faces, every echo lands at its true position on a 5 cm grid; three echoes confirm an obstacle. Avoidance: A* plans around those cells, padded by the robot's radius, and re-plans every half second — so a new box bends the path. The rover drives straight legs and corrects its heading with short turn pulses, checked by the camera.'</a:t>
            </a:r>
            <a:endParaRPr/>
          </a:p>
        </p:txBody>
      </p:sp>
      <p:sp>
        <p:nvSpPr>
          <p:cNvPr id="208" name="Google Shape;208;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APPLICATIONS 4:00–5:00 (slides 8–9). ~45 s here.</a:t>
            </a:r>
            <a:endParaRPr/>
          </a:p>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'We would start indoors, where operators control camera coverage. First pilot: cleaning or delivery robots on an office floor, guided by the building's own cameras. Then warehouse transport and shared residential spaces. Deployment needs camera views that cover the floor, calibration per camera, a reliable link to each robot, and encoders or an IMU for the spots no camera sees.'</a:t>
            </a:r>
            <a:endParaRPr/>
          </a:p>
        </p:txBody>
      </p:sp>
      <p:sp>
        <p:nvSpPr>
          <p:cNvPr id="401" name="Google Shape;401;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0" name="Google Shape;430;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sz="1200" b="0" i="0" u="none" strike="noStrike" cap="none">
                <a:solidFill>
                  <a:schemeClr val="dk1"/>
                </a:solidFill>
                <a:latin typeface="Calibri"/>
                <a:ea typeface="Calibri"/>
                <a:cs typeface="Calibri"/>
                <a:sym typeface="Calibri"/>
              </a:rPr>
              <a:t>Backup — do not present. Use if asked how the idea evolved: sonar scanner, Wi-Fi RSSI chase, reality check, pivot to camera localisation.</a:t>
            </a:r>
            <a:endParaRPr/>
          </a:p>
        </p:txBody>
      </p:sp>
      <p:sp>
        <p:nvSpPr>
          <p:cNvPr id="431" name="Google Shape;431;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h32057b63754114a5_2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h32057b63754114a5_2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5" name="Google Shape;465;h32057b63754114a5_2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_DARK">
  <p:cSld name="TITLE_DARK">
    <p:bg>
      <p:bgPr>
        <a:solidFill>
          <a:schemeClr val="dk1"/>
        </a:solidFill>
        <a:effectLst/>
      </p:bgPr>
    </p:bg>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548640" y="1325880"/>
            <a:ext cx="4389120" cy="9144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lt1"/>
              </a:buClr>
              <a:buSzPts val="5400"/>
              <a:buFont typeface="Arial"/>
              <a:buNone/>
              <a:defRPr sz="5400" b="1" i="0" u="none" strike="noStrike" cap="none" spc="0">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9pPr>
          </a:lstStyle>
          <a:p>
            <a:endParaRPr/>
          </a:p>
        </p:txBody>
      </p:sp>
      <p:sp>
        <p:nvSpPr>
          <p:cNvPr id="13" name="Google Shape;13;p2"/>
          <p:cNvSpPr txBox="1">
            <a:spLocks noGrp="1"/>
          </p:cNvSpPr>
          <p:nvPr>
            <p:ph type="body" idx="1"/>
          </p:nvPr>
        </p:nvSpPr>
        <p:spPr>
          <a:xfrm>
            <a:off x="548640" y="2331720"/>
            <a:ext cx="4206240" cy="9144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60"/>
              </a:spcBef>
              <a:spcAft>
                <a:spcPts val="0"/>
              </a:spcAft>
              <a:buClr>
                <a:schemeClr val="accent5"/>
              </a:buClr>
              <a:buSzPts val="1800"/>
              <a:buFont typeface="Arial"/>
              <a:buNone/>
              <a:defRPr sz="1800" b="0" i="0" u="none" strike="noStrike" cap="none" spc="0">
                <a:solidFill>
                  <a:schemeClr val="accent5"/>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spc="0">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spc="0">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spc="0">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bg>
      <p:bgPr>
        <a:solidFill>
          <a:schemeClr val="lt1"/>
        </a:solidFill>
        <a:effectLst/>
      </p:bgPr>
    </p:bg>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548640" y="566928"/>
            <a:ext cx="8046720" cy="56692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3000"/>
              <a:buFont typeface="Arial"/>
              <a:buNone/>
              <a:defRPr sz="3000" b="1" i="0" u="none" strike="noStrike" cap="none" spc="0">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9pPr>
          </a:lstStyle>
          <a:p>
            <a:endParaRPr/>
          </a:p>
        </p:txBody>
      </p:sp>
      <p:sp>
        <p:nvSpPr>
          <p:cNvPr id="16" name="Google Shape;16;p3"/>
          <p:cNvSpPr/>
          <p:nvPr/>
        </p:nvSpPr>
        <p:spPr>
          <a:xfrm>
            <a:off x="548640" y="4754880"/>
            <a:ext cx="54864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900"/>
              <a:buFont typeface="Courier New"/>
              <a:buNone/>
            </a:pPr>
            <a:r>
              <a:rPr lang="en-US" sz="900" b="0" i="0" u="none" strike="noStrike" cap="none" spc="0">
                <a:solidFill>
                  <a:srgbClr val="8A94A3"/>
                </a:solidFill>
                <a:latin typeface="Courier New"/>
                <a:ea typeface="Courier New"/>
                <a:cs typeface="Courier New"/>
                <a:sym typeface="Courier New"/>
              </a:rPr>
              <a:t>VISION NAV  ·  CHALLENGE 1  ·  DEEP TECH HACKATHON 2026</a:t>
            </a:r>
            <a:endParaRPr sz="900" b="0" i="0" u="none" strike="noStrike" cap="none" spc="0">
              <a:solidFill>
                <a:schemeClr val="dk1"/>
              </a:solidFill>
              <a:latin typeface="Calibri"/>
              <a:ea typeface="Calibri"/>
              <a:cs typeface="Calibri"/>
              <a:sym typeface="Calibri"/>
            </a:endParaRPr>
          </a:p>
        </p:txBody>
      </p:sp>
      <p:sp>
        <p:nvSpPr>
          <p:cNvPr id="17" name="Google Shape;17;p3"/>
          <p:cNvSpPr txBox="1">
            <a:spLocks noGrp="1"/>
          </p:cNvSpPr>
          <p:nvPr>
            <p:ph type="sldNum" idx="12"/>
          </p:nvPr>
        </p:nvSpPr>
        <p:spPr>
          <a:xfrm>
            <a:off x="8229600" y="4736592"/>
            <a:ext cx="365760" cy="256032"/>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1pPr>
            <a:lvl2pPr marL="0" marR="0" lvl="1"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2pPr>
            <a:lvl3pPr marL="0" marR="0" lvl="2"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3pPr>
            <a:lvl4pPr marL="0" marR="0" lvl="3"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4pPr>
            <a:lvl5pPr marL="0" marR="0" lvl="4"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5pPr>
            <a:lvl6pPr marL="0" marR="0" lvl="5"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6pPr>
            <a:lvl7pPr marL="0" marR="0" lvl="6"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7pPr>
            <a:lvl8pPr marL="0" marR="0" lvl="7"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8pPr>
            <a:lvl9pPr marL="0" marR="0" lvl="8" indent="0" algn="r">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_DARK">
  <p:cSld name="CONTENT_DARK">
    <p:bg>
      <p:bgPr>
        <a:solidFill>
          <a:schemeClr val="dk1"/>
        </a:solidFill>
        <a:effectLst/>
      </p:bgPr>
    </p:bg>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548640" y="566928"/>
            <a:ext cx="8046720" cy="56692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lt1"/>
              </a:buClr>
              <a:buSzPts val="3000"/>
              <a:buFont typeface="Arial"/>
              <a:buNone/>
              <a:defRPr sz="3000" b="1" i="0" u="none" strike="noStrike" cap="none" spc="0">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9pPr>
          </a:lstStyle>
          <a:p>
            <a:endParaRPr/>
          </a:p>
        </p:txBody>
      </p:sp>
      <p:sp>
        <p:nvSpPr>
          <p:cNvPr id="20" name="Google Shape;20;p4"/>
          <p:cNvSpPr/>
          <p:nvPr/>
        </p:nvSpPr>
        <p:spPr>
          <a:xfrm>
            <a:off x="548640" y="4754880"/>
            <a:ext cx="54864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900"/>
              <a:buFont typeface="Courier New"/>
              <a:buNone/>
            </a:pPr>
            <a:r>
              <a:rPr lang="en-US" sz="900" b="0" i="0" u="none" strike="noStrike" cap="none" spc="0">
                <a:solidFill>
                  <a:srgbClr val="5B6573"/>
                </a:solidFill>
                <a:latin typeface="Courier New"/>
                <a:ea typeface="Courier New"/>
                <a:cs typeface="Courier New"/>
                <a:sym typeface="Courier New"/>
              </a:rPr>
              <a:t>VISION NAV  ·  CHALLENGE 1  ·  DEEP TECH HACKATHON 2026</a:t>
            </a:r>
            <a:endParaRPr sz="900" b="0" i="0" u="none" strike="noStrike" cap="none" spc="0">
              <a:solidFill>
                <a:schemeClr val="dk1"/>
              </a:solidFill>
              <a:latin typeface="Calibri"/>
              <a:ea typeface="Calibri"/>
              <a:cs typeface="Calibri"/>
              <a:sym typeface="Calibri"/>
            </a:endParaRPr>
          </a:p>
        </p:txBody>
      </p:sp>
      <p:sp>
        <p:nvSpPr>
          <p:cNvPr id="21" name="Google Shape;21;p4"/>
          <p:cNvSpPr txBox="1">
            <a:spLocks noGrp="1"/>
          </p:cNvSpPr>
          <p:nvPr>
            <p:ph type="sldNum" idx="12"/>
          </p:nvPr>
        </p:nvSpPr>
        <p:spPr>
          <a:xfrm>
            <a:off x="8229600" y="4736592"/>
            <a:ext cx="365760" cy="256032"/>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1pPr>
            <a:lvl2pPr marL="0" marR="0" lvl="1"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2pPr>
            <a:lvl3pPr marL="0" marR="0" lvl="2"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3pPr>
            <a:lvl4pPr marL="0" marR="0" lvl="3"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4pPr>
            <a:lvl5pPr marL="0" marR="0" lvl="4"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5pPr>
            <a:lvl6pPr marL="0" marR="0" lvl="5"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6pPr>
            <a:lvl7pPr marL="0" marR="0" lvl="6"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7pPr>
            <a:lvl8pPr marL="0" marR="0" lvl="7"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8pPr>
            <a:lvl9pPr marL="0" marR="0" lvl="8"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CKUP">
  <p:cSld name="BACKUP">
    <p:bg>
      <p:bgPr>
        <a:solidFill>
          <a:schemeClr val="lt2"/>
        </a:solidFill>
        <a:effectLst/>
      </p:bgPr>
    </p:bg>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548640" y="566928"/>
            <a:ext cx="8046720" cy="56692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3000"/>
              <a:buFont typeface="Arial"/>
              <a:buNone/>
              <a:defRPr sz="3000" b="1" i="0" u="none" strike="noStrike" cap="none" spc="0">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spc="0">
                <a:solidFill>
                  <a:srgbClr val="000000"/>
                </a:solidFill>
                <a:latin typeface="Arial"/>
                <a:ea typeface="Arial"/>
                <a:cs typeface="Arial"/>
                <a:sym typeface="Arial"/>
              </a:defRPr>
            </a:lvl9pPr>
          </a:lstStyle>
          <a:p>
            <a:endParaRPr/>
          </a:p>
        </p:txBody>
      </p:sp>
      <p:sp>
        <p:nvSpPr>
          <p:cNvPr id="24" name="Google Shape;24;p5"/>
          <p:cNvSpPr/>
          <p:nvPr/>
        </p:nvSpPr>
        <p:spPr>
          <a:xfrm>
            <a:off x="548640" y="4754880"/>
            <a:ext cx="54864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900"/>
              <a:buFont typeface="Courier New"/>
              <a:buNone/>
            </a:pPr>
            <a:r>
              <a:rPr lang="en-US" sz="900" b="0" i="0" u="none" strike="noStrike" cap="none" spc="0">
                <a:solidFill>
                  <a:srgbClr val="5B6573"/>
                </a:solidFill>
                <a:latin typeface="Courier New"/>
                <a:ea typeface="Courier New"/>
                <a:cs typeface="Courier New"/>
                <a:sym typeface="Courier New"/>
              </a:rPr>
              <a:t>BACKUP  ·  FOR Q&amp;A ONLY</a:t>
            </a:r>
            <a:endParaRPr sz="900" b="0" i="0" u="none" strike="noStrike" cap="none" spc="0">
              <a:solidFill>
                <a:schemeClr val="dk1"/>
              </a:solidFill>
              <a:latin typeface="Calibri"/>
              <a:ea typeface="Calibri"/>
              <a:cs typeface="Calibri"/>
              <a:sym typeface="Calibri"/>
            </a:endParaRPr>
          </a:p>
        </p:txBody>
      </p:sp>
      <p:sp>
        <p:nvSpPr>
          <p:cNvPr id="25" name="Google Shape;25;p5"/>
          <p:cNvSpPr txBox="1">
            <a:spLocks noGrp="1"/>
          </p:cNvSpPr>
          <p:nvPr>
            <p:ph type="sldNum" idx="12"/>
          </p:nvPr>
        </p:nvSpPr>
        <p:spPr>
          <a:xfrm>
            <a:off x="8229600" y="4736592"/>
            <a:ext cx="365760" cy="256032"/>
          </a:xfrm>
          <a:prstGeom prst="rect">
            <a:avLst/>
          </a:prstGeom>
          <a:noFill/>
          <a:ln>
            <a:noFill/>
          </a:ln>
        </p:spPr>
        <p:txBody>
          <a:bodyPr spcFirstLastPara="1" wrap="square" lIns="91425" tIns="45700" rIns="91425" bIns="45700" anchor="t"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1pPr>
            <a:lvl2pPr marL="0" marR="0" lvl="1"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2pPr>
            <a:lvl3pPr marL="0" marR="0" lvl="2"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3pPr>
            <a:lvl4pPr marL="0" marR="0" lvl="3"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4pPr>
            <a:lvl5pPr marL="0" marR="0" lvl="4"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5pPr>
            <a:lvl6pPr marL="0" marR="0" lvl="5"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6pPr>
            <a:lvl7pPr marL="0" marR="0" lvl="6"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7pPr>
            <a:lvl8pPr marL="0" marR="0" lvl="7"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8pPr>
            <a:lvl9pPr marL="0" marR="0" lvl="8" indent="0" algn="r">
              <a:lnSpc>
                <a:spcPct val="100000"/>
              </a:lnSpc>
              <a:spcBef>
                <a:spcPts val="0"/>
              </a:spcBef>
              <a:spcAft>
                <a:spcPts val="0"/>
              </a:spcAft>
              <a:buClr>
                <a:srgbClr val="000000"/>
              </a:buClr>
              <a:buSzPts val="900"/>
              <a:buFont typeface="Arial"/>
              <a:buNone/>
              <a:defRPr sz="900" b="0" i="0" u="none" strike="noStrike" cap="none" spc="0">
                <a:solidFill>
                  <a:srgbClr val="5B6573"/>
                </a:solidFill>
                <a:latin typeface="Courier New"/>
                <a:ea typeface="Courier New"/>
                <a:cs typeface="Courier New"/>
                <a:sym typeface="Courier New"/>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
        <p:nvSpPr>
          <p:cNvPr id="10" name="Google Shape;10;p1"/>
          <p:cNvSpPr txBox="1">
            <a:spLocks noGrp="1"/>
          </p:cNvSpPr>
          <p:nvPr>
            <p:ph type="sldNum" idx="12"/>
          </p:nvPr>
        </p:nvSpPr>
        <p:spPr>
          <a:xfrm>
            <a:off x="8229600" y="4736592"/>
            <a:ext cx="365760" cy="256032"/>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spc="0">
                <a:solidFill>
                  <a:srgbClr val="8A94A3"/>
                </a:solidFill>
                <a:latin typeface="Courier New"/>
                <a:ea typeface="Courier New"/>
                <a:cs typeface="Courier New"/>
                <a:sym typeface="Courier New"/>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1"/>
        <p:cNvGrpSpPr/>
        <p:nvPr/>
      </p:nvGrpSpPr>
      <p:grpSpPr>
        <a:xfrm>
          <a:off x="0" y="0"/>
          <a:ext cx="0" cy="0"/>
          <a:chOff x="0" y="0"/>
          <a:chExt cx="0" cy="0"/>
        </a:xfrm>
      </p:grpSpPr>
      <p:sp>
        <p:nvSpPr>
          <p:cNvPr id="32" name="Google Shape;32;p7"/>
          <p:cNvSpPr txBox="1"/>
          <p:nvPr/>
        </p:nvSpPr>
        <p:spPr>
          <a:xfrm>
            <a:off x="548640" y="822960"/>
            <a:ext cx="457200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DEEP TECH HACKATHON · CHALLENGE 1</a:t>
            </a:r>
            <a:endParaRPr sz="1100" b="0" i="0" u="none" strike="noStrike" cap="none" spc="0">
              <a:solidFill>
                <a:schemeClr val="dk1"/>
              </a:solidFill>
              <a:latin typeface="Calibri"/>
              <a:ea typeface="Calibri"/>
              <a:cs typeface="Calibri"/>
              <a:sym typeface="Calibri"/>
            </a:endParaRPr>
          </a:p>
        </p:txBody>
      </p:sp>
      <p:sp>
        <p:nvSpPr>
          <p:cNvPr id="33" name="Google Shape;33;p7"/>
          <p:cNvSpPr txBox="1">
            <a:spLocks noGrp="1"/>
          </p:cNvSpPr>
          <p:nvPr>
            <p:ph type="title"/>
          </p:nvPr>
        </p:nvSpPr>
        <p:spPr>
          <a:xfrm>
            <a:off x="548640" y="1325880"/>
            <a:ext cx="4389120" cy="9144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lt1"/>
              </a:buClr>
              <a:buSzPts val="5400"/>
              <a:buFont typeface="Arial"/>
              <a:buNone/>
            </a:pPr>
            <a:r>
              <a:rPr lang="en-US" sz="5400" b="1">
                <a:solidFill>
                  <a:schemeClr val="lt1"/>
                </a:solidFill>
              </a:rPr>
              <a:t>Vision Nav</a:t>
            </a:r>
            <a:endParaRPr sz="5400"/>
          </a:p>
        </p:txBody>
      </p:sp>
      <p:sp>
        <p:nvSpPr>
          <p:cNvPr id="34" name="Google Shape;34;p7"/>
          <p:cNvSpPr txBox="1">
            <a:spLocks noGrp="1"/>
          </p:cNvSpPr>
          <p:nvPr>
            <p:ph type="body" idx="1"/>
          </p:nvPr>
        </p:nvSpPr>
        <p:spPr>
          <a:xfrm>
            <a:off x="548640" y="2331720"/>
            <a:ext cx="4206240" cy="9144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accent5"/>
              </a:buClr>
              <a:buSzPts val="1800"/>
              <a:buNone/>
            </a:pPr>
            <a:r>
              <a:rPr lang="en-US" sz="1800">
                <a:solidFill>
                  <a:schemeClr val="accent5"/>
                </a:solidFill>
              </a:rPr>
              <a:t>Shared vision for mobile robots: a rover guided by a camera in the room</a:t>
            </a:r>
            <a:endParaRPr sz="1800"/>
          </a:p>
        </p:txBody>
      </p:sp>
      <p:sp>
        <p:nvSpPr>
          <p:cNvPr id="35" name="Google Shape;35;p7"/>
          <p:cNvSpPr txBox="1"/>
          <p:nvPr/>
        </p:nvSpPr>
        <p:spPr>
          <a:xfrm>
            <a:off x="548640" y="3611880"/>
            <a:ext cx="4114800" cy="457200"/>
          </a:xfrm>
          <a:prstGeom prst="rect">
            <a:avLst/>
          </a:prstGeom>
          <a:solidFill>
            <a:schemeClr val="dk2"/>
          </a:solidFill>
          <a:ln w="15875" cap="flat" cmpd="sng">
            <a:solidFill>
              <a:srgbClr val="FFB020"/>
            </a:solidFill>
            <a:prstDash val="dash"/>
            <a:round/>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B020"/>
              </a:buClr>
              <a:buSzPts val="1200"/>
              <a:buFont typeface="Courier New"/>
              <a:buNone/>
            </a:pPr>
            <a:r>
              <a:rPr lang="en-US" sz="1200" b="0" i="0" u="none" strike="noStrike" cap="none" spc="0">
                <a:solidFill>
                  <a:srgbClr val="FFB020"/>
                </a:solidFill>
                <a:latin typeface="Courier New"/>
                <a:ea typeface="Courier New"/>
                <a:cs typeface="Courier New"/>
                <a:sym typeface="Courier New"/>
              </a:rPr>
              <a:t>[ Team: Cool Rover ]</a:t>
            </a:r>
            <a:endParaRPr sz="1200" b="0" i="0" u="none" strike="noStrike" cap="none" spc="0">
              <a:solidFill>
                <a:schemeClr val="dk1"/>
              </a:solidFill>
              <a:latin typeface="Calibri"/>
              <a:ea typeface="Calibri"/>
              <a:cs typeface="Calibri"/>
              <a:sym typeface="Calibri"/>
            </a:endParaRPr>
          </a:p>
        </p:txBody>
      </p:sp>
      <p:sp>
        <p:nvSpPr>
          <p:cNvPr id="36" name="Google Shape;36;p7"/>
          <p:cNvSpPr/>
          <p:nvPr/>
        </p:nvSpPr>
        <p:spPr>
          <a:xfrm>
            <a:off x="5257800" y="868680"/>
            <a:ext cx="3337560" cy="3429000"/>
          </a:xfrm>
          <a:prstGeom prst="rect">
            <a:avLst/>
          </a:prstGeom>
          <a:solidFill>
            <a:schemeClr val="dk2"/>
          </a:solidFill>
          <a:ln w="12700" cap="flat" cmpd="sng">
            <a:solidFill>
              <a:srgbClr val="2E3A48"/>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 name="Google Shape;37;p7"/>
          <p:cNvSpPr/>
          <p:nvPr/>
        </p:nvSpPr>
        <p:spPr>
          <a:xfrm>
            <a:off x="5349240" y="960120"/>
            <a:ext cx="329184" cy="32918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8" name="Google Shape;38;p7"/>
          <p:cNvSpPr/>
          <p:nvPr/>
        </p:nvSpPr>
        <p:spPr>
          <a:xfrm>
            <a:off x="5404104" y="10149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9" name="Google Shape;39;p7"/>
          <p:cNvSpPr/>
          <p:nvPr/>
        </p:nvSpPr>
        <p:spPr>
          <a:xfrm>
            <a:off x="5513832" y="10149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0" name="Google Shape;40;p7"/>
          <p:cNvSpPr/>
          <p:nvPr/>
        </p:nvSpPr>
        <p:spPr>
          <a:xfrm>
            <a:off x="5568696" y="10149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1" name="Google Shape;41;p7"/>
          <p:cNvSpPr/>
          <p:nvPr/>
        </p:nvSpPr>
        <p:spPr>
          <a:xfrm>
            <a:off x="5458968" y="10698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2" name="Google Shape;42;p7"/>
          <p:cNvSpPr/>
          <p:nvPr/>
        </p:nvSpPr>
        <p:spPr>
          <a:xfrm>
            <a:off x="5404104" y="11247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3" name="Google Shape;43;p7"/>
          <p:cNvSpPr/>
          <p:nvPr/>
        </p:nvSpPr>
        <p:spPr>
          <a:xfrm>
            <a:off x="5458968" y="11247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4" name="Google Shape;44;p7"/>
          <p:cNvSpPr/>
          <p:nvPr/>
        </p:nvSpPr>
        <p:spPr>
          <a:xfrm>
            <a:off x="5568696" y="11247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5" name="Google Shape;45;p7"/>
          <p:cNvSpPr/>
          <p:nvPr/>
        </p:nvSpPr>
        <p:spPr>
          <a:xfrm>
            <a:off x="5513832" y="1179576"/>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6" name="Google Shape;46;p7"/>
          <p:cNvSpPr/>
          <p:nvPr/>
        </p:nvSpPr>
        <p:spPr>
          <a:xfrm>
            <a:off x="8174736" y="960120"/>
            <a:ext cx="329184" cy="32918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7" name="Google Shape;47;p7"/>
          <p:cNvSpPr/>
          <p:nvPr/>
        </p:nvSpPr>
        <p:spPr>
          <a:xfrm>
            <a:off x="8284464" y="10149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8" name="Google Shape;48;p7"/>
          <p:cNvSpPr/>
          <p:nvPr/>
        </p:nvSpPr>
        <p:spPr>
          <a:xfrm>
            <a:off x="8339328" y="10149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9" name="Google Shape;49;p7"/>
          <p:cNvSpPr/>
          <p:nvPr/>
        </p:nvSpPr>
        <p:spPr>
          <a:xfrm>
            <a:off x="8229600" y="10698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0" name="Google Shape;50;p7"/>
          <p:cNvSpPr/>
          <p:nvPr/>
        </p:nvSpPr>
        <p:spPr>
          <a:xfrm>
            <a:off x="8394192" y="10698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1" name="Google Shape;51;p7"/>
          <p:cNvSpPr/>
          <p:nvPr/>
        </p:nvSpPr>
        <p:spPr>
          <a:xfrm>
            <a:off x="8229600" y="11247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2" name="Google Shape;52;p7"/>
          <p:cNvSpPr/>
          <p:nvPr/>
        </p:nvSpPr>
        <p:spPr>
          <a:xfrm>
            <a:off x="8284464" y="11247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3" name="Google Shape;53;p7"/>
          <p:cNvSpPr/>
          <p:nvPr/>
        </p:nvSpPr>
        <p:spPr>
          <a:xfrm>
            <a:off x="8284464" y="1179576"/>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4" name="Google Shape;54;p7"/>
          <p:cNvSpPr/>
          <p:nvPr/>
        </p:nvSpPr>
        <p:spPr>
          <a:xfrm>
            <a:off x="8394192" y="1179576"/>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5" name="Google Shape;55;p7"/>
          <p:cNvSpPr/>
          <p:nvPr/>
        </p:nvSpPr>
        <p:spPr>
          <a:xfrm>
            <a:off x="5349240" y="3877056"/>
            <a:ext cx="329184" cy="32918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6" name="Google Shape;56;p7"/>
          <p:cNvSpPr/>
          <p:nvPr/>
        </p:nvSpPr>
        <p:spPr>
          <a:xfrm>
            <a:off x="5404104" y="3931920"/>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7" name="Google Shape;57;p7"/>
          <p:cNvSpPr/>
          <p:nvPr/>
        </p:nvSpPr>
        <p:spPr>
          <a:xfrm>
            <a:off x="5458968" y="3931920"/>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8" name="Google Shape;58;p7"/>
          <p:cNvSpPr/>
          <p:nvPr/>
        </p:nvSpPr>
        <p:spPr>
          <a:xfrm>
            <a:off x="5513832" y="39867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59" name="Google Shape;59;p7"/>
          <p:cNvSpPr/>
          <p:nvPr/>
        </p:nvSpPr>
        <p:spPr>
          <a:xfrm>
            <a:off x="5568696" y="39867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0" name="Google Shape;60;p7"/>
          <p:cNvSpPr/>
          <p:nvPr/>
        </p:nvSpPr>
        <p:spPr>
          <a:xfrm>
            <a:off x="5404104" y="40416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1" name="Google Shape;61;p7"/>
          <p:cNvSpPr/>
          <p:nvPr/>
        </p:nvSpPr>
        <p:spPr>
          <a:xfrm>
            <a:off x="5513832" y="40416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2" name="Google Shape;62;p7"/>
          <p:cNvSpPr/>
          <p:nvPr/>
        </p:nvSpPr>
        <p:spPr>
          <a:xfrm>
            <a:off x="5404104" y="40965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3" name="Google Shape;63;p7"/>
          <p:cNvSpPr/>
          <p:nvPr/>
        </p:nvSpPr>
        <p:spPr>
          <a:xfrm>
            <a:off x="5568696" y="40965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4" name="Google Shape;64;p7"/>
          <p:cNvSpPr/>
          <p:nvPr/>
        </p:nvSpPr>
        <p:spPr>
          <a:xfrm>
            <a:off x="8174736" y="3877056"/>
            <a:ext cx="329184" cy="32918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5" name="Google Shape;65;p7"/>
          <p:cNvSpPr/>
          <p:nvPr/>
        </p:nvSpPr>
        <p:spPr>
          <a:xfrm>
            <a:off x="8339328" y="3931920"/>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6" name="Google Shape;66;p7"/>
          <p:cNvSpPr/>
          <p:nvPr/>
        </p:nvSpPr>
        <p:spPr>
          <a:xfrm>
            <a:off x="8394192" y="3931920"/>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7" name="Google Shape;67;p7"/>
          <p:cNvSpPr/>
          <p:nvPr/>
        </p:nvSpPr>
        <p:spPr>
          <a:xfrm>
            <a:off x="8229600" y="39867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8" name="Google Shape;68;p7"/>
          <p:cNvSpPr/>
          <p:nvPr/>
        </p:nvSpPr>
        <p:spPr>
          <a:xfrm>
            <a:off x="8284464" y="3986784"/>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69" name="Google Shape;69;p7"/>
          <p:cNvSpPr/>
          <p:nvPr/>
        </p:nvSpPr>
        <p:spPr>
          <a:xfrm>
            <a:off x="8284464" y="40416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0" name="Google Shape;70;p7"/>
          <p:cNvSpPr/>
          <p:nvPr/>
        </p:nvSpPr>
        <p:spPr>
          <a:xfrm>
            <a:off x="8394192" y="4041648"/>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1" name="Google Shape;71;p7"/>
          <p:cNvSpPr/>
          <p:nvPr/>
        </p:nvSpPr>
        <p:spPr>
          <a:xfrm>
            <a:off x="8229600" y="40965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2" name="Google Shape;72;p7"/>
          <p:cNvSpPr/>
          <p:nvPr/>
        </p:nvSpPr>
        <p:spPr>
          <a:xfrm>
            <a:off x="8339328" y="4096512"/>
            <a:ext cx="54864" cy="5486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3" name="Google Shape;73;p7"/>
          <p:cNvSpPr/>
          <p:nvPr/>
        </p:nvSpPr>
        <p:spPr>
          <a:xfrm>
            <a:off x="6492240" y="1783080"/>
            <a:ext cx="640080" cy="502920"/>
          </a:xfrm>
          <a:prstGeom prst="rect">
            <a:avLst/>
          </a:prstGeom>
          <a:solidFill>
            <a:srgbClr val="5B657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4" name="Google Shape;74;p7"/>
          <p:cNvSpPr/>
          <p:nvPr/>
        </p:nvSpPr>
        <p:spPr>
          <a:xfrm>
            <a:off x="7315200" y="2971800"/>
            <a:ext cx="502920" cy="685800"/>
          </a:xfrm>
          <a:prstGeom prst="rect">
            <a:avLst/>
          </a:prstGeom>
          <a:solidFill>
            <a:srgbClr val="5B657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cxnSp>
        <p:nvCxnSpPr>
          <p:cNvPr id="75" name="Google Shape;75;p7"/>
          <p:cNvCxnSpPr/>
          <p:nvPr/>
        </p:nvCxnSpPr>
        <p:spPr>
          <a:xfrm rot="10800000" flipH="1">
            <a:off x="5943600" y="2606040"/>
            <a:ext cx="365760" cy="1051560"/>
          </a:xfrm>
          <a:prstGeom prst="straightConnector1">
            <a:avLst/>
          </a:prstGeom>
          <a:noFill/>
          <a:ln w="31750" cap="flat" cmpd="sng">
            <a:solidFill>
              <a:srgbClr val="14B8A6"/>
            </a:solidFill>
            <a:prstDash val="dash"/>
            <a:round/>
            <a:headEnd type="none" w="sm" len="sm"/>
            <a:tailEnd type="none" w="sm" len="sm"/>
          </a:ln>
        </p:spPr>
      </p:cxnSp>
      <p:cxnSp>
        <p:nvCxnSpPr>
          <p:cNvPr id="76" name="Google Shape;76;p7"/>
          <p:cNvCxnSpPr/>
          <p:nvPr/>
        </p:nvCxnSpPr>
        <p:spPr>
          <a:xfrm rot="10800000" flipH="1">
            <a:off x="6309360" y="2468880"/>
            <a:ext cx="1097280" cy="137160"/>
          </a:xfrm>
          <a:prstGeom prst="straightConnector1">
            <a:avLst/>
          </a:prstGeom>
          <a:noFill/>
          <a:ln w="31750" cap="flat" cmpd="sng">
            <a:solidFill>
              <a:srgbClr val="14B8A6"/>
            </a:solidFill>
            <a:prstDash val="dash"/>
            <a:round/>
            <a:headEnd type="none" w="sm" len="sm"/>
            <a:tailEnd type="none" w="sm" len="sm"/>
          </a:ln>
        </p:spPr>
      </p:cxnSp>
      <p:cxnSp>
        <p:nvCxnSpPr>
          <p:cNvPr id="77" name="Google Shape;77;p7"/>
          <p:cNvCxnSpPr/>
          <p:nvPr/>
        </p:nvCxnSpPr>
        <p:spPr>
          <a:xfrm rot="10800000" flipH="1">
            <a:off x="7406640" y="1645920"/>
            <a:ext cx="594360" cy="822960"/>
          </a:xfrm>
          <a:prstGeom prst="straightConnector1">
            <a:avLst/>
          </a:prstGeom>
          <a:noFill/>
          <a:ln w="31750" cap="flat" cmpd="sng">
            <a:solidFill>
              <a:srgbClr val="14B8A6"/>
            </a:solidFill>
            <a:prstDash val="dash"/>
            <a:round/>
            <a:headEnd type="none" w="sm" len="sm"/>
            <a:tailEnd type="none" w="sm" len="sm"/>
          </a:ln>
        </p:spPr>
      </p:cxnSp>
      <p:sp>
        <p:nvSpPr>
          <p:cNvPr id="78" name="Google Shape;78;p7"/>
          <p:cNvSpPr/>
          <p:nvPr/>
        </p:nvSpPr>
        <p:spPr>
          <a:xfrm>
            <a:off x="6254496" y="2551176"/>
            <a:ext cx="109728" cy="109728"/>
          </a:xfrm>
          <a:prstGeom prst="ellipse">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79" name="Google Shape;79;p7"/>
          <p:cNvSpPr/>
          <p:nvPr/>
        </p:nvSpPr>
        <p:spPr>
          <a:xfrm>
            <a:off x="7351776" y="2414016"/>
            <a:ext cx="109728" cy="109728"/>
          </a:xfrm>
          <a:prstGeom prst="ellipse">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0" name="Google Shape;80;p7"/>
          <p:cNvSpPr/>
          <p:nvPr/>
        </p:nvSpPr>
        <p:spPr>
          <a:xfrm>
            <a:off x="7882128" y="1527048"/>
            <a:ext cx="237744" cy="237744"/>
          </a:xfrm>
          <a:prstGeom prst="ellipse">
            <a:avLst/>
          </a:prstGeom>
          <a:solidFill>
            <a:schemeClr val="dk2"/>
          </a:solidFill>
          <a:ln w="31750" cap="flat" cmpd="sng">
            <a:solidFill>
              <a:srgbClr val="14B8A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1" name="Google Shape;81;p7"/>
          <p:cNvSpPr/>
          <p:nvPr/>
        </p:nvSpPr>
        <p:spPr>
          <a:xfrm>
            <a:off x="5715000" y="3474720"/>
            <a:ext cx="457200" cy="365760"/>
          </a:xfrm>
          <a:prstGeom prst="roundRect">
            <a:avLst>
              <a:gd name="adj" fmla="val 15000"/>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2" name="Google Shape;82;p7"/>
          <p:cNvSpPr/>
          <p:nvPr/>
        </p:nvSpPr>
        <p:spPr>
          <a:xfrm>
            <a:off x="5824728" y="3538728"/>
            <a:ext cx="237744" cy="23774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3" name="Google Shape;83;p7"/>
          <p:cNvSpPr/>
          <p:nvPr/>
        </p:nvSpPr>
        <p:spPr>
          <a:xfrm>
            <a:off x="5864352" y="3578352"/>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4" name="Google Shape;84;p7"/>
          <p:cNvSpPr/>
          <p:nvPr/>
        </p:nvSpPr>
        <p:spPr>
          <a:xfrm>
            <a:off x="5983224" y="3578352"/>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5" name="Google Shape;85;p7"/>
          <p:cNvSpPr/>
          <p:nvPr/>
        </p:nvSpPr>
        <p:spPr>
          <a:xfrm>
            <a:off x="5903976" y="3617976"/>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6" name="Google Shape;86;p7"/>
          <p:cNvSpPr/>
          <p:nvPr/>
        </p:nvSpPr>
        <p:spPr>
          <a:xfrm>
            <a:off x="5943600" y="3617976"/>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7" name="Google Shape;87;p7"/>
          <p:cNvSpPr/>
          <p:nvPr/>
        </p:nvSpPr>
        <p:spPr>
          <a:xfrm>
            <a:off x="5943600" y="3657600"/>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8" name="Google Shape;88;p7"/>
          <p:cNvSpPr/>
          <p:nvPr/>
        </p:nvSpPr>
        <p:spPr>
          <a:xfrm>
            <a:off x="5983224" y="3657600"/>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89" name="Google Shape;89;p7"/>
          <p:cNvSpPr/>
          <p:nvPr/>
        </p:nvSpPr>
        <p:spPr>
          <a:xfrm>
            <a:off x="5864352" y="3697224"/>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0" name="Google Shape;90;p7"/>
          <p:cNvSpPr/>
          <p:nvPr/>
        </p:nvSpPr>
        <p:spPr>
          <a:xfrm>
            <a:off x="5903976" y="3697224"/>
            <a:ext cx="39624" cy="39624"/>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1" name="Google Shape;91;p7"/>
          <p:cNvSpPr/>
          <p:nvPr/>
        </p:nvSpPr>
        <p:spPr>
          <a:xfrm>
            <a:off x="5120640" y="731520"/>
            <a:ext cx="256032" cy="36576"/>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2" name="Google Shape;92;p7"/>
          <p:cNvSpPr/>
          <p:nvPr/>
        </p:nvSpPr>
        <p:spPr>
          <a:xfrm>
            <a:off x="5120640" y="731520"/>
            <a:ext cx="36576" cy="256032"/>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3" name="Google Shape;93;p7"/>
          <p:cNvSpPr/>
          <p:nvPr/>
        </p:nvSpPr>
        <p:spPr>
          <a:xfrm>
            <a:off x="8476488" y="731520"/>
            <a:ext cx="256032" cy="36576"/>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4" name="Google Shape;94;p7"/>
          <p:cNvSpPr/>
          <p:nvPr/>
        </p:nvSpPr>
        <p:spPr>
          <a:xfrm>
            <a:off x="8695944" y="731520"/>
            <a:ext cx="36576" cy="256032"/>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5" name="Google Shape;95;p7"/>
          <p:cNvSpPr/>
          <p:nvPr/>
        </p:nvSpPr>
        <p:spPr>
          <a:xfrm>
            <a:off x="5120640" y="4398264"/>
            <a:ext cx="256032" cy="36576"/>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6" name="Google Shape;96;p7"/>
          <p:cNvSpPr/>
          <p:nvPr/>
        </p:nvSpPr>
        <p:spPr>
          <a:xfrm>
            <a:off x="5120640" y="4178808"/>
            <a:ext cx="36576" cy="256032"/>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7" name="Google Shape;97;p7"/>
          <p:cNvSpPr/>
          <p:nvPr/>
        </p:nvSpPr>
        <p:spPr>
          <a:xfrm>
            <a:off x="8476488" y="4398264"/>
            <a:ext cx="256032" cy="36576"/>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8" name="Google Shape;98;p7"/>
          <p:cNvSpPr/>
          <p:nvPr/>
        </p:nvSpPr>
        <p:spPr>
          <a:xfrm>
            <a:off x="8695944" y="4178808"/>
            <a:ext cx="36576" cy="256032"/>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99" name="Google Shape;99;p7"/>
          <p:cNvSpPr txBox="1"/>
          <p:nvPr/>
        </p:nvSpPr>
        <p:spPr>
          <a:xfrm>
            <a:off x="5257800" y="4498848"/>
            <a:ext cx="3337560" cy="228600"/>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8A94A3"/>
              </a:buClr>
              <a:buSzPts val="1000"/>
              <a:buFont typeface="Courier New"/>
              <a:buNone/>
            </a:pPr>
            <a:r>
              <a:rPr lang="en-US" sz="1000" b="0" i="0" u="none" strike="noStrike" cap="none" spc="0">
                <a:solidFill>
                  <a:srgbClr val="8A94A3"/>
                </a:solidFill>
                <a:latin typeface="Courier New"/>
                <a:ea typeface="Courier New"/>
                <a:cs typeface="Courier New"/>
                <a:sym typeface="Courier New"/>
              </a:rPr>
              <a:t>phone camera = indoor GPS</a:t>
            </a:r>
            <a:endParaRPr sz="10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8"/>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01 · RATIONALE</a:t>
            </a:r>
            <a:endParaRPr sz="1100" b="0" i="0" u="none" strike="noStrike" cap="none" spc="0">
              <a:solidFill>
                <a:schemeClr val="dk1"/>
              </a:solidFill>
              <a:latin typeface="Calibri"/>
              <a:ea typeface="Calibri"/>
              <a:cs typeface="Calibri"/>
              <a:sym typeface="Calibri"/>
            </a:endParaRPr>
          </a:p>
        </p:txBody>
      </p:sp>
      <p:sp>
        <p:nvSpPr>
          <p:cNvPr id="106" name="Google Shape;106;p8"/>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Reuse existing vision, don't rebuild it</a:t>
            </a:r>
            <a:endParaRPr sz="3000"/>
          </a:p>
        </p:txBody>
      </p:sp>
      <p:sp>
        <p:nvSpPr>
          <p:cNvPr id="107" name="Google Shape;107;p8"/>
          <p:cNvSpPr/>
          <p:nvPr/>
        </p:nvSpPr>
        <p:spPr>
          <a:xfrm>
            <a:off x="548640" y="1463040"/>
            <a:ext cx="502920" cy="50292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08" name="Google Shape;108;p8" descr="preencoded.png"/>
          <p:cNvPicPr preferRelativeResize="0"/>
          <p:nvPr/>
        </p:nvPicPr>
        <p:blipFill rotWithShape="1">
          <a:blip r:embed="rId3">
            <a:alphaModFix/>
          </a:blip>
          <a:srcRect/>
          <a:stretch/>
        </p:blipFill>
        <p:spPr>
          <a:xfrm>
            <a:off x="684428" y="1598828"/>
            <a:ext cx="231343" cy="231343"/>
          </a:xfrm>
          <a:prstGeom prst="rect">
            <a:avLst/>
          </a:prstGeom>
          <a:noFill/>
          <a:ln>
            <a:noFill/>
          </a:ln>
        </p:spPr>
      </p:pic>
      <p:sp>
        <p:nvSpPr>
          <p:cNvPr id="109" name="Google Shape;109;p8"/>
          <p:cNvSpPr txBox="1"/>
          <p:nvPr/>
        </p:nvSpPr>
        <p:spPr>
          <a:xfrm>
            <a:off x="1234440" y="1444752"/>
            <a:ext cx="3657600" cy="29260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600"/>
              <a:buFont typeface="Calibri"/>
              <a:buNone/>
            </a:pPr>
            <a:r>
              <a:rPr lang="en-US" sz="1600" b="1" i="0" u="none" strike="noStrike" cap="none" spc="0">
                <a:solidFill>
                  <a:schemeClr val="dk1"/>
                </a:solidFill>
                <a:latin typeface="Calibri"/>
                <a:ea typeface="Calibri"/>
                <a:cs typeface="Calibri"/>
                <a:sym typeface="Calibri"/>
              </a:rPr>
              <a:t>Every robot carries its own eyes</a:t>
            </a:r>
            <a:endParaRPr sz="1600" b="0" i="0" u="none" strike="noStrike" cap="none" spc="0">
              <a:solidFill>
                <a:schemeClr val="dk1"/>
              </a:solidFill>
              <a:latin typeface="Calibri"/>
              <a:ea typeface="Calibri"/>
              <a:cs typeface="Calibri"/>
              <a:sym typeface="Calibri"/>
            </a:endParaRPr>
          </a:p>
        </p:txBody>
      </p:sp>
      <p:sp>
        <p:nvSpPr>
          <p:cNvPr id="110" name="Google Shape;110;p8"/>
          <p:cNvSpPr txBox="1"/>
          <p:nvPr/>
        </p:nvSpPr>
        <p:spPr>
          <a:xfrm>
            <a:off x="1234440" y="1755648"/>
            <a:ext cx="3657600" cy="5669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300"/>
              <a:buFont typeface="Calibri"/>
              <a:buNone/>
            </a:pPr>
            <a:r>
              <a:rPr lang="en-US" sz="1300" b="0" i="0" u="none" strike="noStrike" cap="none" spc="0">
                <a:solidFill>
                  <a:srgbClr val="5B6573"/>
                </a:solidFill>
                <a:latin typeface="Calibri"/>
                <a:ea typeface="Calibri"/>
                <a:cs typeface="Calibri"/>
                <a:sym typeface="Calibri"/>
              </a:rPr>
              <a:t>Delivery robots and robot vacuums each pack LiDAR, cameras and sonars.</a:t>
            </a:r>
            <a:endParaRPr sz="1300" b="0" i="0" u="none" strike="noStrike" cap="none" spc="0">
              <a:solidFill>
                <a:schemeClr val="dk1"/>
              </a:solidFill>
              <a:latin typeface="Calibri"/>
              <a:ea typeface="Calibri"/>
              <a:cs typeface="Calibri"/>
              <a:sym typeface="Calibri"/>
            </a:endParaRPr>
          </a:p>
        </p:txBody>
      </p:sp>
      <p:sp>
        <p:nvSpPr>
          <p:cNvPr id="111" name="Google Shape;111;p8"/>
          <p:cNvSpPr/>
          <p:nvPr/>
        </p:nvSpPr>
        <p:spPr>
          <a:xfrm>
            <a:off x="548640" y="2487168"/>
            <a:ext cx="502920" cy="50292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12" name="Google Shape;112;p8" descr="preencoded.png"/>
          <p:cNvPicPr preferRelativeResize="0"/>
          <p:nvPr/>
        </p:nvPicPr>
        <p:blipFill rotWithShape="1">
          <a:blip r:embed="rId4">
            <a:alphaModFix/>
          </a:blip>
          <a:srcRect/>
          <a:stretch/>
        </p:blipFill>
        <p:spPr>
          <a:xfrm>
            <a:off x="684428" y="2622956"/>
            <a:ext cx="231343" cy="231343"/>
          </a:xfrm>
          <a:prstGeom prst="rect">
            <a:avLst/>
          </a:prstGeom>
          <a:noFill/>
          <a:ln>
            <a:noFill/>
          </a:ln>
        </p:spPr>
      </p:pic>
      <p:sp>
        <p:nvSpPr>
          <p:cNvPr id="113" name="Google Shape;113;p8"/>
          <p:cNvSpPr txBox="1"/>
          <p:nvPr/>
        </p:nvSpPr>
        <p:spPr>
          <a:xfrm>
            <a:off x="1234440" y="2468880"/>
            <a:ext cx="3657600" cy="29260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600"/>
              <a:buFont typeface="Calibri"/>
              <a:buNone/>
            </a:pPr>
            <a:r>
              <a:rPr lang="en-US" sz="1600" b="1" i="0" u="none" strike="noStrike" cap="none" spc="0">
                <a:solidFill>
                  <a:schemeClr val="dk1"/>
                </a:solidFill>
                <a:latin typeface="Calibri"/>
                <a:ea typeface="Calibri"/>
                <a:cs typeface="Calibri"/>
                <a:sym typeface="Calibri"/>
              </a:rPr>
              <a:t>That makes robots costly and heavy</a:t>
            </a:r>
            <a:endParaRPr sz="1600" b="0" i="0" u="none" strike="noStrike" cap="none" spc="0">
              <a:solidFill>
                <a:schemeClr val="dk1"/>
              </a:solidFill>
              <a:latin typeface="Calibri"/>
              <a:ea typeface="Calibri"/>
              <a:cs typeface="Calibri"/>
              <a:sym typeface="Calibri"/>
            </a:endParaRPr>
          </a:p>
        </p:txBody>
      </p:sp>
      <p:sp>
        <p:nvSpPr>
          <p:cNvPr id="114" name="Google Shape;114;p8"/>
          <p:cNvSpPr txBox="1"/>
          <p:nvPr/>
        </p:nvSpPr>
        <p:spPr>
          <a:xfrm>
            <a:off x="1234440" y="2779776"/>
            <a:ext cx="3657600" cy="5669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300"/>
              <a:buFont typeface="Calibri"/>
              <a:buNone/>
            </a:pPr>
            <a:r>
              <a:rPr lang="en-US" sz="1300" b="0" i="0" u="none" strike="noStrike" cap="none" spc="0">
                <a:solidFill>
                  <a:srgbClr val="5B6573"/>
                </a:solidFill>
                <a:latin typeface="Calibri"/>
                <a:ea typeface="Calibri"/>
                <a:cs typeface="Calibri"/>
                <a:sym typeface="Calibri"/>
              </a:rPr>
              <a:t>More hardware means a higher price, more power, more weight and harder maintenance.</a:t>
            </a:r>
            <a:endParaRPr sz="1300" b="0" i="0" u="none" strike="noStrike" cap="none" spc="0">
              <a:solidFill>
                <a:schemeClr val="dk1"/>
              </a:solidFill>
              <a:latin typeface="Calibri"/>
              <a:ea typeface="Calibri"/>
              <a:cs typeface="Calibri"/>
              <a:sym typeface="Calibri"/>
            </a:endParaRPr>
          </a:p>
        </p:txBody>
      </p:sp>
      <p:sp>
        <p:nvSpPr>
          <p:cNvPr id="115" name="Google Shape;115;p8"/>
          <p:cNvSpPr/>
          <p:nvPr/>
        </p:nvSpPr>
        <p:spPr>
          <a:xfrm>
            <a:off x="548640" y="3511296"/>
            <a:ext cx="502920" cy="502920"/>
          </a:xfrm>
          <a:prstGeom prst="ellipse">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16" name="Google Shape;116;p8" descr="preencoded.png"/>
          <p:cNvPicPr preferRelativeResize="0"/>
          <p:nvPr/>
        </p:nvPicPr>
        <p:blipFill rotWithShape="1">
          <a:blip r:embed="rId5">
            <a:alphaModFix/>
          </a:blip>
          <a:srcRect/>
          <a:stretch/>
        </p:blipFill>
        <p:spPr>
          <a:xfrm>
            <a:off x="684428" y="3647084"/>
            <a:ext cx="231343" cy="231343"/>
          </a:xfrm>
          <a:prstGeom prst="rect">
            <a:avLst/>
          </a:prstGeom>
          <a:noFill/>
          <a:ln>
            <a:noFill/>
          </a:ln>
        </p:spPr>
      </p:pic>
      <p:sp>
        <p:nvSpPr>
          <p:cNvPr id="117" name="Google Shape;117;p8"/>
          <p:cNvSpPr txBox="1"/>
          <p:nvPr/>
        </p:nvSpPr>
        <p:spPr>
          <a:xfrm>
            <a:off x="1234440" y="3493008"/>
            <a:ext cx="3657600" cy="29260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600"/>
              <a:buFont typeface="Calibri"/>
              <a:buNone/>
            </a:pPr>
            <a:r>
              <a:rPr lang="en-US" sz="1600" b="1" i="0" u="none" strike="noStrike" cap="none" spc="0">
                <a:solidFill>
                  <a:schemeClr val="dk1"/>
                </a:solidFill>
                <a:latin typeface="Calibri"/>
                <a:ea typeface="Calibri"/>
                <a:cs typeface="Calibri"/>
                <a:sym typeface="Calibri"/>
              </a:rPr>
              <a:t>The eyes already exist: CCTV</a:t>
            </a:r>
            <a:endParaRPr sz="1600" b="0" i="0" u="none" strike="noStrike" cap="none" spc="0">
              <a:solidFill>
                <a:schemeClr val="dk1"/>
              </a:solidFill>
              <a:latin typeface="Calibri"/>
              <a:ea typeface="Calibri"/>
              <a:cs typeface="Calibri"/>
              <a:sym typeface="Calibri"/>
            </a:endParaRPr>
          </a:p>
        </p:txBody>
      </p:sp>
      <p:sp>
        <p:nvSpPr>
          <p:cNvPr id="118" name="Google Shape;118;p8"/>
          <p:cNvSpPr txBox="1"/>
          <p:nvPr/>
        </p:nvSpPr>
        <p:spPr>
          <a:xfrm>
            <a:off x="1234440" y="3803904"/>
            <a:ext cx="3657600" cy="5669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300"/>
              <a:buFont typeface="Calibri"/>
              <a:buNone/>
            </a:pPr>
            <a:r>
              <a:rPr lang="en-US" sz="1300" b="0" i="0" u="none" strike="noStrike" cap="none" spc="0">
                <a:solidFill>
                  <a:srgbClr val="5B6573"/>
                </a:solidFill>
                <a:latin typeface="Calibri"/>
                <a:ea typeface="Calibri"/>
                <a:cs typeface="Calibri"/>
                <a:sym typeface="Calibri"/>
              </a:rPr>
              <a:t>Cameras watch buildings, homes and city streets. Our prototype uses them to guide the robot.</a:t>
            </a:r>
            <a:endParaRPr sz="1300" b="0" i="0" u="none" strike="noStrike" cap="none" spc="0">
              <a:solidFill>
                <a:schemeClr val="dk1"/>
              </a:solidFill>
              <a:latin typeface="Calibri"/>
              <a:ea typeface="Calibri"/>
              <a:cs typeface="Calibri"/>
              <a:sym typeface="Calibri"/>
            </a:endParaRPr>
          </a:p>
        </p:txBody>
      </p:sp>
      <p:sp>
        <p:nvSpPr>
          <p:cNvPr id="119" name="Google Shape;119;p8"/>
          <p:cNvSpPr/>
          <p:nvPr/>
        </p:nvSpPr>
        <p:spPr>
          <a:xfrm>
            <a:off x="5349240" y="1417320"/>
            <a:ext cx="3246120" cy="306324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20" name="Google Shape;120;p8"/>
          <p:cNvSpPr txBox="1"/>
          <p:nvPr/>
        </p:nvSpPr>
        <p:spPr>
          <a:xfrm>
            <a:off x="5623560" y="1600200"/>
            <a:ext cx="132588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4800"/>
              <a:buFont typeface="Arial"/>
              <a:buNone/>
            </a:pPr>
            <a:r>
              <a:rPr lang="en-US" sz="4800" b="1" i="0" u="none" strike="noStrike" cap="none" spc="0">
                <a:solidFill>
                  <a:srgbClr val="FFFFFF"/>
                </a:solidFill>
                <a:latin typeface="Arial"/>
                <a:ea typeface="Arial"/>
                <a:cs typeface="Arial"/>
                <a:sym typeface="Arial"/>
              </a:rPr>
              <a:t>0</a:t>
            </a:r>
            <a:endParaRPr sz="4800" b="0" i="0" u="none" strike="noStrike" cap="none" spc="0">
              <a:solidFill>
                <a:schemeClr val="dk1"/>
              </a:solidFill>
              <a:latin typeface="Calibri"/>
              <a:ea typeface="Calibri"/>
              <a:cs typeface="Calibri"/>
              <a:sym typeface="Calibri"/>
            </a:endParaRPr>
          </a:p>
        </p:txBody>
      </p:sp>
      <p:sp>
        <p:nvSpPr>
          <p:cNvPr id="121" name="Google Shape;121;p8"/>
          <p:cNvSpPr txBox="1"/>
          <p:nvPr/>
        </p:nvSpPr>
        <p:spPr>
          <a:xfrm>
            <a:off x="6949440" y="1600200"/>
            <a:ext cx="146304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1400"/>
              <a:buFont typeface="Calibri"/>
              <a:buNone/>
            </a:pPr>
            <a:r>
              <a:rPr lang="en-US" sz="1400" b="0" i="0" u="none" strike="noStrike" cap="none" spc="0">
                <a:solidFill>
                  <a:srgbClr val="8A94A3"/>
                </a:solidFill>
                <a:latin typeface="Calibri"/>
                <a:ea typeface="Calibri"/>
                <a:cs typeface="Calibri"/>
                <a:sym typeface="Calibri"/>
              </a:rPr>
              <a:t>LiDAR on the robot</a:t>
            </a:r>
            <a:endParaRPr sz="1400" b="0" i="0" u="none" strike="noStrike" cap="none" spc="0">
              <a:solidFill>
                <a:schemeClr val="dk1"/>
              </a:solidFill>
              <a:latin typeface="Calibri"/>
              <a:ea typeface="Calibri"/>
              <a:cs typeface="Calibri"/>
              <a:sym typeface="Calibri"/>
            </a:endParaRPr>
          </a:p>
        </p:txBody>
      </p:sp>
      <p:sp>
        <p:nvSpPr>
          <p:cNvPr id="122" name="Google Shape;122;p8"/>
          <p:cNvSpPr txBox="1"/>
          <p:nvPr/>
        </p:nvSpPr>
        <p:spPr>
          <a:xfrm>
            <a:off x="5623560" y="2542032"/>
            <a:ext cx="132588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4800"/>
              <a:buFont typeface="Arial"/>
              <a:buNone/>
            </a:pPr>
            <a:r>
              <a:rPr lang="en-US" sz="4800" b="1" i="0" u="none" strike="noStrike" cap="none" spc="0">
                <a:solidFill>
                  <a:srgbClr val="FFFFFF"/>
                </a:solidFill>
                <a:latin typeface="Arial"/>
                <a:ea typeface="Arial"/>
                <a:cs typeface="Arial"/>
                <a:sym typeface="Arial"/>
              </a:rPr>
              <a:t>0</a:t>
            </a:r>
            <a:endParaRPr sz="4800" b="0" i="0" u="none" strike="noStrike" cap="none" spc="0">
              <a:solidFill>
                <a:schemeClr val="dk1"/>
              </a:solidFill>
              <a:latin typeface="Calibri"/>
              <a:ea typeface="Calibri"/>
              <a:cs typeface="Calibri"/>
              <a:sym typeface="Calibri"/>
            </a:endParaRPr>
          </a:p>
        </p:txBody>
      </p:sp>
      <p:sp>
        <p:nvSpPr>
          <p:cNvPr id="123" name="Google Shape;123;p8"/>
          <p:cNvSpPr txBox="1"/>
          <p:nvPr/>
        </p:nvSpPr>
        <p:spPr>
          <a:xfrm>
            <a:off x="6949440" y="2542032"/>
            <a:ext cx="146304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1400"/>
              <a:buFont typeface="Calibri"/>
              <a:buNone/>
            </a:pPr>
            <a:r>
              <a:rPr lang="en-US" sz="1400" b="0" i="0" u="none" strike="noStrike" cap="none" spc="0">
                <a:solidFill>
                  <a:srgbClr val="8A94A3"/>
                </a:solidFill>
                <a:latin typeface="Calibri"/>
                <a:ea typeface="Calibri"/>
                <a:cs typeface="Calibri"/>
                <a:sym typeface="Calibri"/>
              </a:rPr>
              <a:t>cameras on the robot</a:t>
            </a:r>
            <a:endParaRPr sz="1400" b="0" i="0" u="none" strike="noStrike" cap="none" spc="0">
              <a:solidFill>
                <a:schemeClr val="dk1"/>
              </a:solidFill>
              <a:latin typeface="Calibri"/>
              <a:ea typeface="Calibri"/>
              <a:cs typeface="Calibri"/>
              <a:sym typeface="Calibri"/>
            </a:endParaRPr>
          </a:p>
        </p:txBody>
      </p:sp>
      <p:sp>
        <p:nvSpPr>
          <p:cNvPr id="124" name="Google Shape;124;p8"/>
          <p:cNvSpPr txBox="1"/>
          <p:nvPr/>
        </p:nvSpPr>
        <p:spPr>
          <a:xfrm>
            <a:off x="5623560" y="3483864"/>
            <a:ext cx="132588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4800"/>
              <a:buFont typeface="Arial"/>
              <a:buNone/>
            </a:pPr>
            <a:r>
              <a:rPr lang="en-US" sz="4800" b="1" i="0" u="none" strike="noStrike" cap="none" spc="0">
                <a:solidFill>
                  <a:srgbClr val="FF5A1F"/>
                </a:solidFill>
                <a:latin typeface="Arial"/>
                <a:ea typeface="Arial"/>
                <a:cs typeface="Arial"/>
                <a:sym typeface="Arial"/>
              </a:rPr>
              <a:t>1</a:t>
            </a:r>
            <a:endParaRPr sz="4800" b="0" i="0" u="none" strike="noStrike" cap="none" spc="0">
              <a:solidFill>
                <a:schemeClr val="dk1"/>
              </a:solidFill>
              <a:latin typeface="Calibri"/>
              <a:ea typeface="Calibri"/>
              <a:cs typeface="Calibri"/>
              <a:sym typeface="Calibri"/>
            </a:endParaRPr>
          </a:p>
        </p:txBody>
      </p:sp>
      <p:sp>
        <p:nvSpPr>
          <p:cNvPr id="125" name="Google Shape;125;p8"/>
          <p:cNvSpPr txBox="1"/>
          <p:nvPr/>
        </p:nvSpPr>
        <p:spPr>
          <a:xfrm>
            <a:off x="6949440" y="3483864"/>
            <a:ext cx="1463040" cy="777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1400"/>
              <a:buFont typeface="Calibri"/>
              <a:buNone/>
            </a:pPr>
            <a:r>
              <a:rPr lang="en-US" sz="1400" b="0" i="0" u="none" strike="noStrike" cap="none" spc="0">
                <a:solidFill>
                  <a:srgbClr val="8A94A3"/>
                </a:solidFill>
                <a:latin typeface="Calibri"/>
                <a:ea typeface="Calibri"/>
                <a:cs typeface="Calibri"/>
                <a:sym typeface="Calibri"/>
              </a:rPr>
              <a:t>cheap sonar is enough</a:t>
            </a:r>
            <a:endParaRPr sz="1400" b="0" i="0" u="none" strike="noStrike" cap="none" spc="0">
              <a:solidFill>
                <a:schemeClr val="dk1"/>
              </a:solidFill>
              <a:latin typeface="Calibri"/>
              <a:ea typeface="Calibri"/>
              <a:cs typeface="Calibri"/>
              <a:sym typeface="Calibri"/>
            </a:endParaRPr>
          </a:p>
        </p:txBody>
      </p:sp>
      <p:sp>
        <p:nvSpPr>
          <p:cNvPr id="126" name="Google Shape;126;p8"/>
          <p:cNvSpPr/>
          <p:nvPr/>
        </p:nvSpPr>
        <p:spPr>
          <a:xfrm>
            <a:off x="5349240" y="1417320"/>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27" name="Google Shape;127;p8"/>
          <p:cNvSpPr/>
          <p:nvPr/>
        </p:nvSpPr>
        <p:spPr>
          <a:xfrm>
            <a:off x="5349240" y="141732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28" name="Google Shape;128;p8"/>
          <p:cNvSpPr/>
          <p:nvPr/>
        </p:nvSpPr>
        <p:spPr>
          <a:xfrm>
            <a:off x="8412480" y="1417320"/>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29" name="Google Shape;129;p8"/>
          <p:cNvSpPr/>
          <p:nvPr/>
        </p:nvSpPr>
        <p:spPr>
          <a:xfrm>
            <a:off x="8563356" y="141732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30" name="Google Shape;130;p8"/>
          <p:cNvSpPr/>
          <p:nvPr/>
        </p:nvSpPr>
        <p:spPr>
          <a:xfrm>
            <a:off x="5349240" y="4448556"/>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31" name="Google Shape;131;p8"/>
          <p:cNvSpPr/>
          <p:nvPr/>
        </p:nvSpPr>
        <p:spPr>
          <a:xfrm>
            <a:off x="5349240" y="429768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32" name="Google Shape;132;p8"/>
          <p:cNvSpPr/>
          <p:nvPr/>
        </p:nvSpPr>
        <p:spPr>
          <a:xfrm>
            <a:off x="8412480" y="4448556"/>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33" name="Google Shape;133;p8"/>
          <p:cNvSpPr/>
          <p:nvPr/>
        </p:nvSpPr>
        <p:spPr>
          <a:xfrm>
            <a:off x="8563356" y="429768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9"/>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02 · TECHNICAL EXECUTION</a:t>
            </a:r>
            <a:endParaRPr sz="1100" b="0" i="0" u="none" strike="noStrike" cap="none" spc="0">
              <a:solidFill>
                <a:schemeClr val="dk1"/>
              </a:solidFill>
              <a:latin typeface="Calibri"/>
              <a:ea typeface="Calibri"/>
              <a:cs typeface="Calibri"/>
              <a:sym typeface="Calibri"/>
            </a:endParaRPr>
          </a:p>
        </p:txBody>
      </p:sp>
      <p:sp>
        <p:nvSpPr>
          <p:cNvPr id="140" name="Google Shape;140;p9"/>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Phone, server, rover: one loop at 10 Hz</a:t>
            </a:r>
            <a:endParaRPr sz="3000"/>
          </a:p>
        </p:txBody>
      </p:sp>
      <p:sp>
        <p:nvSpPr>
          <p:cNvPr id="141" name="Google Shape;141;p9"/>
          <p:cNvSpPr/>
          <p:nvPr/>
        </p:nvSpPr>
        <p:spPr>
          <a:xfrm>
            <a:off x="548640" y="1417320"/>
            <a:ext cx="2286000" cy="237744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42" name="Google Shape;142;p9"/>
          <p:cNvSpPr/>
          <p:nvPr/>
        </p:nvSpPr>
        <p:spPr>
          <a:xfrm>
            <a:off x="731520" y="1600200"/>
            <a:ext cx="502920" cy="50292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43" name="Google Shape;143;p9" descr="preencoded.png"/>
          <p:cNvPicPr preferRelativeResize="0"/>
          <p:nvPr/>
        </p:nvPicPr>
        <p:blipFill rotWithShape="1">
          <a:blip r:embed="rId3">
            <a:alphaModFix/>
          </a:blip>
          <a:srcRect/>
          <a:stretch/>
        </p:blipFill>
        <p:spPr>
          <a:xfrm>
            <a:off x="867308" y="1735988"/>
            <a:ext cx="231343" cy="231343"/>
          </a:xfrm>
          <a:prstGeom prst="rect">
            <a:avLst/>
          </a:prstGeom>
          <a:noFill/>
          <a:ln>
            <a:noFill/>
          </a:ln>
        </p:spPr>
      </p:pic>
      <p:sp>
        <p:nvSpPr>
          <p:cNvPr id="144" name="Google Shape;144;p9"/>
          <p:cNvSpPr txBox="1"/>
          <p:nvPr/>
        </p:nvSpPr>
        <p:spPr>
          <a:xfrm>
            <a:off x="731520" y="2194560"/>
            <a:ext cx="1920240" cy="320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Phone camera</a:t>
            </a:r>
            <a:endParaRPr sz="1500" b="0" i="0" u="none" strike="noStrike" cap="none" spc="0">
              <a:solidFill>
                <a:schemeClr val="dk1"/>
              </a:solidFill>
              <a:latin typeface="Calibri"/>
              <a:ea typeface="Calibri"/>
              <a:cs typeface="Calibri"/>
              <a:sym typeface="Calibri"/>
            </a:endParaRPr>
          </a:p>
        </p:txBody>
      </p:sp>
      <p:sp>
        <p:nvSpPr>
          <p:cNvPr id="145" name="Google Shape;145;p9"/>
          <p:cNvSpPr txBox="1"/>
          <p:nvPr/>
        </p:nvSpPr>
        <p:spPr>
          <a:xfrm>
            <a:off x="731520" y="2560320"/>
            <a:ext cx="1965960" cy="868680"/>
          </a:xfrm>
          <a:prstGeom prst="rect">
            <a:avLst/>
          </a:prstGeom>
          <a:noFill/>
          <a:ln>
            <a:noFill/>
          </a:ln>
        </p:spPr>
        <p:txBody>
          <a:bodyPr spcFirstLastPara="1" wrap="square" lIns="0" tIns="0" rIns="0" bIns="0" anchor="t" anchorCtr="0">
            <a:noAutofit/>
          </a:bodyPr>
          <a:lstStyle/>
          <a:p>
            <a:pPr marL="342900" marR="0" lvl="0" indent="-342900" algn="l" rtl="0">
              <a:lnSpc>
                <a:spcPct val="100000"/>
              </a:lnSpc>
              <a:spcBef>
                <a:spcPts val="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Looks down on the arena</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Spots ArUco markers</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Shows the planned path</a:t>
            </a:r>
            <a:endParaRPr sz="1100" b="0" i="0" u="none" strike="noStrike" cap="none" spc="0">
              <a:solidFill>
                <a:schemeClr val="dk1"/>
              </a:solidFill>
              <a:latin typeface="Calibri"/>
              <a:ea typeface="Calibri"/>
              <a:cs typeface="Calibri"/>
              <a:sym typeface="Calibri"/>
            </a:endParaRPr>
          </a:p>
        </p:txBody>
      </p:sp>
      <p:sp>
        <p:nvSpPr>
          <p:cNvPr id="146" name="Google Shape;146;p9"/>
          <p:cNvSpPr txBox="1"/>
          <p:nvPr/>
        </p:nvSpPr>
        <p:spPr>
          <a:xfrm>
            <a:off x="731520" y="3447288"/>
            <a:ext cx="201168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1000"/>
              <a:buFont typeface="Courier New"/>
              <a:buNone/>
            </a:pPr>
            <a:r>
              <a:rPr lang="en-US" sz="1000" b="0" i="0" u="none" strike="noStrike" cap="none" spc="0">
                <a:solidFill>
                  <a:srgbClr val="FF5A1F"/>
                </a:solidFill>
                <a:latin typeface="Courier New"/>
                <a:ea typeface="Courier New"/>
                <a:cs typeface="Courier New"/>
                <a:sym typeface="Courier New"/>
              </a:rPr>
              <a:t>→ marker corners, 15 fps</a:t>
            </a:r>
            <a:endParaRPr sz="1000" b="0" i="0" u="none" strike="noStrike" cap="none" spc="0">
              <a:solidFill>
                <a:schemeClr val="dk1"/>
              </a:solidFill>
              <a:latin typeface="Calibri"/>
              <a:ea typeface="Calibri"/>
              <a:cs typeface="Calibri"/>
              <a:sym typeface="Calibri"/>
            </a:endParaRPr>
          </a:p>
        </p:txBody>
      </p:sp>
      <p:cxnSp>
        <p:nvCxnSpPr>
          <p:cNvPr id="147" name="Google Shape;147;p9"/>
          <p:cNvCxnSpPr/>
          <p:nvPr/>
        </p:nvCxnSpPr>
        <p:spPr>
          <a:xfrm>
            <a:off x="2907792" y="2423160"/>
            <a:ext cx="448056" cy="0"/>
          </a:xfrm>
          <a:prstGeom prst="straightConnector1">
            <a:avLst/>
          </a:prstGeom>
          <a:noFill/>
          <a:ln w="25400" cap="flat" cmpd="sng">
            <a:solidFill>
              <a:srgbClr val="111418"/>
            </a:solidFill>
            <a:prstDash val="solid"/>
            <a:round/>
            <a:headEnd type="none" w="sm" len="sm"/>
            <a:tailEnd type="triangle" w="med" len="med"/>
          </a:ln>
        </p:spPr>
      </p:cxnSp>
      <p:cxnSp>
        <p:nvCxnSpPr>
          <p:cNvPr id="148" name="Google Shape;148;p9"/>
          <p:cNvCxnSpPr/>
          <p:nvPr/>
        </p:nvCxnSpPr>
        <p:spPr>
          <a:xfrm>
            <a:off x="2907792" y="2788920"/>
            <a:ext cx="448056" cy="0"/>
          </a:xfrm>
          <a:prstGeom prst="straightConnector1">
            <a:avLst/>
          </a:prstGeom>
          <a:noFill/>
          <a:ln w="19050" cap="flat" cmpd="sng">
            <a:solidFill>
              <a:srgbClr val="8A94A3"/>
            </a:solidFill>
            <a:prstDash val="dash"/>
            <a:round/>
            <a:headEnd type="triangle" w="med" len="med"/>
            <a:tailEnd type="none" w="sm" len="sm"/>
          </a:ln>
        </p:spPr>
      </p:cxnSp>
      <p:sp>
        <p:nvSpPr>
          <p:cNvPr id="149" name="Google Shape;149;p9"/>
          <p:cNvSpPr/>
          <p:nvPr/>
        </p:nvSpPr>
        <p:spPr>
          <a:xfrm>
            <a:off x="3429000" y="1417320"/>
            <a:ext cx="2286000" cy="237744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50" name="Google Shape;150;p9"/>
          <p:cNvSpPr/>
          <p:nvPr/>
        </p:nvSpPr>
        <p:spPr>
          <a:xfrm>
            <a:off x="3611880" y="1600200"/>
            <a:ext cx="502920" cy="502920"/>
          </a:xfrm>
          <a:prstGeom prst="ellipse">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51" name="Google Shape;151;p9" descr="preencoded.png"/>
          <p:cNvPicPr preferRelativeResize="0"/>
          <p:nvPr/>
        </p:nvPicPr>
        <p:blipFill rotWithShape="1">
          <a:blip r:embed="rId4">
            <a:alphaModFix/>
          </a:blip>
          <a:srcRect/>
          <a:stretch/>
        </p:blipFill>
        <p:spPr>
          <a:xfrm>
            <a:off x="3747668" y="1735988"/>
            <a:ext cx="231343" cy="231343"/>
          </a:xfrm>
          <a:prstGeom prst="rect">
            <a:avLst/>
          </a:prstGeom>
          <a:noFill/>
          <a:ln>
            <a:noFill/>
          </a:ln>
        </p:spPr>
      </p:pic>
      <p:sp>
        <p:nvSpPr>
          <p:cNvPr id="152" name="Google Shape;152;p9"/>
          <p:cNvSpPr txBox="1"/>
          <p:nvPr/>
        </p:nvSpPr>
        <p:spPr>
          <a:xfrm>
            <a:off x="3611880" y="2194560"/>
            <a:ext cx="1920240" cy="320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Server (Python)</a:t>
            </a:r>
            <a:endParaRPr sz="1500" b="0" i="0" u="none" strike="noStrike" cap="none" spc="0">
              <a:solidFill>
                <a:schemeClr val="dk1"/>
              </a:solidFill>
              <a:latin typeface="Calibri"/>
              <a:ea typeface="Calibri"/>
              <a:cs typeface="Calibri"/>
              <a:sym typeface="Calibri"/>
            </a:endParaRPr>
          </a:p>
        </p:txBody>
      </p:sp>
      <p:sp>
        <p:nvSpPr>
          <p:cNvPr id="153" name="Google Shape;153;p9"/>
          <p:cNvSpPr txBox="1"/>
          <p:nvPr/>
        </p:nvSpPr>
        <p:spPr>
          <a:xfrm>
            <a:off x="3611880" y="2560320"/>
            <a:ext cx="1965960" cy="868680"/>
          </a:xfrm>
          <a:prstGeom prst="rect">
            <a:avLst/>
          </a:prstGeom>
          <a:noFill/>
          <a:ln>
            <a:noFill/>
          </a:ln>
        </p:spPr>
        <p:txBody>
          <a:bodyPr spcFirstLastPara="1" wrap="square" lIns="0" tIns="0" rIns="0" bIns="0" anchor="t" anchorCtr="0">
            <a:noAutofit/>
          </a:bodyPr>
          <a:lstStyle/>
          <a:p>
            <a:pPr marL="342900" marR="0" lvl="0" indent="-342900" algn="l" rtl="0">
              <a:lnSpc>
                <a:spcPct val="100000"/>
              </a:lnSpc>
              <a:spcBef>
                <a:spcPts val="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Pixels → cm (homography)</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Obstacle map</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Path following at 10 Hz</a:t>
            </a:r>
            <a:endParaRPr sz="1100" b="0" i="0" u="none" strike="noStrike" cap="none" spc="0">
              <a:solidFill>
                <a:schemeClr val="dk1"/>
              </a:solidFill>
              <a:latin typeface="Calibri"/>
              <a:ea typeface="Calibri"/>
              <a:cs typeface="Calibri"/>
              <a:sym typeface="Calibri"/>
            </a:endParaRPr>
          </a:p>
        </p:txBody>
      </p:sp>
      <p:sp>
        <p:nvSpPr>
          <p:cNvPr id="154" name="Google Shape;154;p9"/>
          <p:cNvSpPr txBox="1"/>
          <p:nvPr/>
        </p:nvSpPr>
        <p:spPr>
          <a:xfrm>
            <a:off x="3611880" y="3447288"/>
            <a:ext cx="201168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1000"/>
              <a:buFont typeface="Courier New"/>
              <a:buNone/>
            </a:pPr>
            <a:r>
              <a:rPr lang="en-US" sz="1000" b="0" i="0" u="none" strike="noStrike" cap="none" spc="0">
                <a:solidFill>
                  <a:srgbClr val="FF5A1F"/>
                </a:solidFill>
                <a:latin typeface="Courier New"/>
                <a:ea typeface="Courier New"/>
                <a:cs typeface="Courier New"/>
                <a:sym typeface="Courier New"/>
              </a:rPr>
              <a:t>→ D &lt;left&gt; &lt;right&gt; &lt;ms&gt;</a:t>
            </a:r>
            <a:endParaRPr sz="1000" b="0" i="0" u="none" strike="noStrike" cap="none" spc="0">
              <a:solidFill>
                <a:schemeClr val="dk1"/>
              </a:solidFill>
              <a:latin typeface="Calibri"/>
              <a:ea typeface="Calibri"/>
              <a:cs typeface="Calibri"/>
              <a:sym typeface="Calibri"/>
            </a:endParaRPr>
          </a:p>
        </p:txBody>
      </p:sp>
      <p:cxnSp>
        <p:nvCxnSpPr>
          <p:cNvPr id="155" name="Google Shape;155;p9"/>
          <p:cNvCxnSpPr/>
          <p:nvPr/>
        </p:nvCxnSpPr>
        <p:spPr>
          <a:xfrm>
            <a:off x="5788152" y="2423160"/>
            <a:ext cx="448056" cy="0"/>
          </a:xfrm>
          <a:prstGeom prst="straightConnector1">
            <a:avLst/>
          </a:prstGeom>
          <a:noFill/>
          <a:ln w="25400" cap="flat" cmpd="sng">
            <a:solidFill>
              <a:srgbClr val="111418"/>
            </a:solidFill>
            <a:prstDash val="solid"/>
            <a:round/>
            <a:headEnd type="none" w="sm" len="sm"/>
            <a:tailEnd type="triangle" w="med" len="med"/>
          </a:ln>
        </p:spPr>
      </p:cxnSp>
      <p:cxnSp>
        <p:nvCxnSpPr>
          <p:cNvPr id="156" name="Google Shape;156;p9"/>
          <p:cNvCxnSpPr/>
          <p:nvPr/>
        </p:nvCxnSpPr>
        <p:spPr>
          <a:xfrm>
            <a:off x="5788152" y="2788920"/>
            <a:ext cx="448056" cy="0"/>
          </a:xfrm>
          <a:prstGeom prst="straightConnector1">
            <a:avLst/>
          </a:prstGeom>
          <a:noFill/>
          <a:ln w="19050" cap="flat" cmpd="sng">
            <a:solidFill>
              <a:srgbClr val="8A94A3"/>
            </a:solidFill>
            <a:prstDash val="dash"/>
            <a:round/>
            <a:headEnd type="triangle" w="med" len="med"/>
            <a:tailEnd type="none" w="sm" len="sm"/>
          </a:ln>
        </p:spPr>
      </p:cxnSp>
      <p:sp>
        <p:nvSpPr>
          <p:cNvPr id="157" name="Google Shape;157;p9"/>
          <p:cNvSpPr/>
          <p:nvPr/>
        </p:nvSpPr>
        <p:spPr>
          <a:xfrm>
            <a:off x="6309360" y="1417320"/>
            <a:ext cx="2286000" cy="237744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58" name="Google Shape;158;p9"/>
          <p:cNvSpPr/>
          <p:nvPr/>
        </p:nvSpPr>
        <p:spPr>
          <a:xfrm>
            <a:off x="6492240" y="1600200"/>
            <a:ext cx="502920" cy="50292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59" name="Google Shape;159;p9" descr="preencoded.png"/>
          <p:cNvPicPr preferRelativeResize="0"/>
          <p:nvPr/>
        </p:nvPicPr>
        <p:blipFill rotWithShape="1">
          <a:blip r:embed="rId5">
            <a:alphaModFix/>
          </a:blip>
          <a:srcRect/>
          <a:stretch/>
        </p:blipFill>
        <p:spPr>
          <a:xfrm>
            <a:off x="6628028" y="1735988"/>
            <a:ext cx="231343" cy="231343"/>
          </a:xfrm>
          <a:prstGeom prst="rect">
            <a:avLst/>
          </a:prstGeom>
          <a:noFill/>
          <a:ln>
            <a:noFill/>
          </a:ln>
        </p:spPr>
      </p:pic>
      <p:sp>
        <p:nvSpPr>
          <p:cNvPr id="160" name="Google Shape;160;p9"/>
          <p:cNvSpPr txBox="1"/>
          <p:nvPr/>
        </p:nvSpPr>
        <p:spPr>
          <a:xfrm>
            <a:off x="6492240" y="2194560"/>
            <a:ext cx="1920240" cy="320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Rover (UNO R4 WiFi)</a:t>
            </a:r>
            <a:endParaRPr sz="1500" b="0" i="0" u="none" strike="noStrike" cap="none" spc="0">
              <a:solidFill>
                <a:schemeClr val="dk1"/>
              </a:solidFill>
              <a:latin typeface="Calibri"/>
              <a:ea typeface="Calibri"/>
              <a:cs typeface="Calibri"/>
              <a:sym typeface="Calibri"/>
            </a:endParaRPr>
          </a:p>
        </p:txBody>
      </p:sp>
      <p:sp>
        <p:nvSpPr>
          <p:cNvPr id="161" name="Google Shape;161;p9"/>
          <p:cNvSpPr txBox="1"/>
          <p:nvPr/>
        </p:nvSpPr>
        <p:spPr>
          <a:xfrm>
            <a:off x="6492240" y="2560320"/>
            <a:ext cx="1965960" cy="868680"/>
          </a:xfrm>
          <a:prstGeom prst="rect">
            <a:avLst/>
          </a:prstGeom>
          <a:noFill/>
          <a:ln>
            <a:noFill/>
          </a:ln>
        </p:spPr>
        <p:txBody>
          <a:bodyPr spcFirstLastPara="1" wrap="square" lIns="0" tIns="0" rIns="0" bIns="0" anchor="t" anchorCtr="0">
            <a:noAutofit/>
          </a:bodyPr>
          <a:lstStyle/>
          <a:p>
            <a:pPr marL="342900" marR="0" lvl="0" indent="-342900" algn="l" rtl="0">
              <a:lnSpc>
                <a:spcPct val="100000"/>
              </a:lnSpc>
              <a:spcBef>
                <a:spcPts val="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2 DC motors via L298N</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Sonar + 20 cm hard stop</a:t>
            </a:r>
            <a:endParaRPr sz="1100" b="0" i="0" u="none" strike="noStrike" cap="none" spc="0">
              <a:solidFill>
                <a:schemeClr val="dk1"/>
              </a:solidFill>
              <a:latin typeface="Calibri"/>
              <a:ea typeface="Calibri"/>
              <a:cs typeface="Calibri"/>
              <a:sym typeface="Calibri"/>
            </a:endParaRPr>
          </a:p>
          <a:p>
            <a:pPr marL="342900" marR="0" lvl="0" indent="-342900" algn="l" rtl="0">
              <a:lnSpc>
                <a:spcPct val="100000"/>
              </a:lnSpc>
              <a:spcBef>
                <a:spcPts val="300"/>
              </a:spcBef>
              <a:spcAft>
                <a:spcPts val="0"/>
              </a:spcAft>
              <a:buClr>
                <a:srgbClr val="5B6573"/>
              </a:buClr>
              <a:buSzPts val="1100"/>
              <a:buFont typeface="Calibri"/>
              <a:buChar char="•"/>
            </a:pPr>
            <a:r>
              <a:rPr lang="en-US" sz="1100" b="0" i="0" u="none" strike="noStrike" cap="none" spc="0">
                <a:solidFill>
                  <a:srgbClr val="5B6573"/>
                </a:solidFill>
                <a:latin typeface="Calibri"/>
                <a:ea typeface="Calibri"/>
                <a:cs typeface="Calibri"/>
                <a:sym typeface="Calibri"/>
              </a:rPr>
              <a:t>Telemetry back at 10 Hz</a:t>
            </a:r>
            <a:endParaRPr sz="1100" b="0" i="0" u="none" strike="noStrike" cap="none" spc="0">
              <a:solidFill>
                <a:schemeClr val="dk1"/>
              </a:solidFill>
              <a:latin typeface="Calibri"/>
              <a:ea typeface="Calibri"/>
              <a:cs typeface="Calibri"/>
              <a:sym typeface="Calibri"/>
            </a:endParaRPr>
          </a:p>
        </p:txBody>
      </p:sp>
      <p:sp>
        <p:nvSpPr>
          <p:cNvPr id="162" name="Google Shape;162;p9"/>
          <p:cNvSpPr txBox="1"/>
          <p:nvPr/>
        </p:nvSpPr>
        <p:spPr>
          <a:xfrm>
            <a:off x="6492240" y="3447288"/>
            <a:ext cx="201168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1000"/>
              <a:buFont typeface="Courier New"/>
              <a:buNone/>
            </a:pPr>
            <a:r>
              <a:rPr lang="en-US" sz="1000" b="0" i="0" u="none" strike="noStrike" cap="none" spc="0">
                <a:solidFill>
                  <a:srgbClr val="FF5A1F"/>
                </a:solidFill>
                <a:latin typeface="Courier New"/>
                <a:ea typeface="Courier New"/>
                <a:cs typeface="Courier New"/>
                <a:sym typeface="Courier New"/>
              </a:rPr>
              <a:t>→ distance, mode, 10 Hz</a:t>
            </a:r>
            <a:endParaRPr sz="1000" b="0" i="0" u="none" strike="noStrike" cap="none" spc="0">
              <a:solidFill>
                <a:schemeClr val="dk1"/>
              </a:solidFill>
              <a:latin typeface="Calibri"/>
              <a:ea typeface="Calibri"/>
              <a:cs typeface="Calibri"/>
              <a:sym typeface="Calibri"/>
            </a:endParaRPr>
          </a:p>
        </p:txBody>
      </p:sp>
      <p:sp>
        <p:nvSpPr>
          <p:cNvPr id="163" name="Google Shape;163;p9"/>
          <p:cNvSpPr/>
          <p:nvPr/>
        </p:nvSpPr>
        <p:spPr>
          <a:xfrm>
            <a:off x="548640" y="4023360"/>
            <a:ext cx="8046720" cy="50292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64" name="Google Shape;164;p9"/>
          <p:cNvSpPr/>
          <p:nvPr/>
        </p:nvSpPr>
        <p:spPr>
          <a:xfrm>
            <a:off x="658368" y="4087368"/>
            <a:ext cx="365760" cy="365760"/>
          </a:xfrm>
          <a:prstGeom prst="ellipse">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65" name="Google Shape;165;p9" descr="preencoded.png"/>
          <p:cNvPicPr preferRelativeResize="0"/>
          <p:nvPr/>
        </p:nvPicPr>
        <p:blipFill rotWithShape="1">
          <a:blip r:embed="rId6">
            <a:alphaModFix/>
          </a:blip>
          <a:srcRect/>
          <a:stretch/>
        </p:blipFill>
        <p:spPr>
          <a:xfrm>
            <a:off x="757123" y="4186123"/>
            <a:ext cx="168250" cy="168250"/>
          </a:xfrm>
          <a:prstGeom prst="rect">
            <a:avLst/>
          </a:prstGeom>
          <a:noFill/>
          <a:ln>
            <a:noFill/>
          </a:ln>
        </p:spPr>
      </p:pic>
      <p:sp>
        <p:nvSpPr>
          <p:cNvPr id="166" name="Google Shape;166;p9"/>
          <p:cNvSpPr txBox="1"/>
          <p:nvPr/>
        </p:nvSpPr>
        <p:spPr>
          <a:xfrm>
            <a:off x="1188720" y="4023360"/>
            <a:ext cx="731520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300"/>
              <a:buFont typeface="Calibri"/>
              <a:buNone/>
            </a:pPr>
            <a:r>
              <a:rPr lang="en-US" sz="1300" b="1" i="0" u="none" strike="noStrike" cap="none" spc="0">
                <a:solidFill>
                  <a:srgbClr val="FFFFFF"/>
                </a:solidFill>
                <a:latin typeface="Calibri"/>
                <a:ea typeface="Calibri"/>
                <a:cs typeface="Calibri"/>
                <a:sym typeface="Calibri"/>
              </a:rPr>
              <a:t>Console in any browser:  </a:t>
            </a:r>
            <a:r>
              <a:rPr lang="en-US" sz="1300" b="0" i="0" u="none" strike="noStrike" cap="none" spc="0">
                <a:solidFill>
                  <a:srgbClr val="8A94A3"/>
                </a:solidFill>
                <a:latin typeface="Calibri"/>
                <a:ea typeface="Calibri"/>
                <a:cs typeface="Calibri"/>
                <a:sym typeface="Calibri"/>
              </a:rPr>
              <a:t>live map · click to go · go home · follow me · joystick</a:t>
            </a:r>
            <a:endParaRPr sz="13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10"/>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03 · PHYSICAL DESIGN</a:t>
            </a:r>
            <a:endParaRPr sz="1100" b="0" i="0" u="none" strike="noStrike" cap="none" spc="0">
              <a:solidFill>
                <a:schemeClr val="dk1"/>
              </a:solidFill>
              <a:latin typeface="Calibri"/>
              <a:ea typeface="Calibri"/>
              <a:cs typeface="Calibri"/>
              <a:sym typeface="Calibri"/>
            </a:endParaRPr>
          </a:p>
        </p:txBody>
      </p:sp>
      <p:sp>
        <p:nvSpPr>
          <p:cNvPr id="173" name="Google Shape;173;p10"/>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Kit parts, our own shell</a:t>
            </a:r>
            <a:endParaRPr sz="3000"/>
          </a:p>
        </p:txBody>
      </p:sp>
      <p:sp>
        <p:nvSpPr>
          <p:cNvPr id="174" name="Google Shape;174;p10"/>
          <p:cNvSpPr/>
          <p:nvPr/>
        </p:nvSpPr>
        <p:spPr>
          <a:xfrm>
            <a:off x="548640" y="1371600"/>
            <a:ext cx="4114800" cy="292608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75" name="Google Shape;175;p10" descr="Render of the 3D-printed rover shell with its removable top hatch"/>
          <p:cNvPicPr preferRelativeResize="0"/>
          <p:nvPr/>
        </p:nvPicPr>
        <p:blipFill rotWithShape="1">
          <a:blip r:embed="rId3">
            <a:alphaModFix/>
          </a:blip>
          <a:srcRect/>
          <a:stretch/>
        </p:blipFill>
        <p:spPr>
          <a:xfrm>
            <a:off x="822960" y="1480128"/>
            <a:ext cx="3566160" cy="2709023"/>
          </a:xfrm>
          <a:prstGeom prst="rect">
            <a:avLst/>
          </a:prstGeom>
          <a:noFill/>
          <a:ln>
            <a:noFill/>
          </a:ln>
        </p:spPr>
      </p:pic>
      <p:sp>
        <p:nvSpPr>
          <p:cNvPr id="176" name="Google Shape;176;p10"/>
          <p:cNvSpPr/>
          <p:nvPr/>
        </p:nvSpPr>
        <p:spPr>
          <a:xfrm>
            <a:off x="548640" y="1371600"/>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77" name="Google Shape;177;p10"/>
          <p:cNvSpPr/>
          <p:nvPr/>
        </p:nvSpPr>
        <p:spPr>
          <a:xfrm>
            <a:off x="548640" y="137160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78" name="Google Shape;178;p10"/>
          <p:cNvSpPr/>
          <p:nvPr/>
        </p:nvSpPr>
        <p:spPr>
          <a:xfrm>
            <a:off x="4480560" y="1371600"/>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79" name="Google Shape;179;p10"/>
          <p:cNvSpPr/>
          <p:nvPr/>
        </p:nvSpPr>
        <p:spPr>
          <a:xfrm>
            <a:off x="4631436" y="137160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80" name="Google Shape;180;p10"/>
          <p:cNvSpPr/>
          <p:nvPr/>
        </p:nvSpPr>
        <p:spPr>
          <a:xfrm>
            <a:off x="548640" y="4265676"/>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81" name="Google Shape;181;p10"/>
          <p:cNvSpPr/>
          <p:nvPr/>
        </p:nvSpPr>
        <p:spPr>
          <a:xfrm>
            <a:off x="548640" y="411480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82" name="Google Shape;182;p10"/>
          <p:cNvSpPr/>
          <p:nvPr/>
        </p:nvSpPr>
        <p:spPr>
          <a:xfrm>
            <a:off x="4480560" y="4265676"/>
            <a:ext cx="182880" cy="32004"/>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83" name="Google Shape;183;p10"/>
          <p:cNvSpPr/>
          <p:nvPr/>
        </p:nvSpPr>
        <p:spPr>
          <a:xfrm>
            <a:off x="4631436" y="4114800"/>
            <a:ext cx="32004" cy="182880"/>
          </a:xfrm>
          <a:prstGeom prst="rect">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184" name="Google Shape;184;p10"/>
          <p:cNvSpPr txBox="1"/>
          <p:nvPr/>
        </p:nvSpPr>
        <p:spPr>
          <a:xfrm>
            <a:off x="548640" y="4389120"/>
            <a:ext cx="411480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1000"/>
              <a:buFont typeface="Courier New"/>
              <a:buNone/>
            </a:pPr>
            <a:r>
              <a:rPr lang="en-US" sz="1000" b="0" i="0" u="none" strike="noStrike" cap="none" spc="0">
                <a:solidFill>
                  <a:srgbClr val="8A94A3"/>
                </a:solidFill>
                <a:latin typeface="Courier New"/>
                <a:ea typeface="Courier New"/>
                <a:cs typeface="Courier New"/>
                <a:sym typeface="Courier New"/>
              </a:rPr>
              <a:t>Shell 221 × 164 × 80 mm · removable hatch</a:t>
            </a:r>
            <a:endParaRPr sz="1000" b="0" i="0" u="none" strike="noStrike" cap="none" spc="0">
              <a:solidFill>
                <a:schemeClr val="dk1"/>
              </a:solidFill>
              <a:latin typeface="Calibri"/>
              <a:ea typeface="Calibri"/>
              <a:cs typeface="Calibri"/>
              <a:sym typeface="Calibri"/>
            </a:endParaRPr>
          </a:p>
        </p:txBody>
      </p:sp>
      <p:sp>
        <p:nvSpPr>
          <p:cNvPr id="185" name="Google Shape;185;p10"/>
          <p:cNvSpPr/>
          <p:nvPr/>
        </p:nvSpPr>
        <p:spPr>
          <a:xfrm>
            <a:off x="5029200" y="1417320"/>
            <a:ext cx="411480" cy="41148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86" name="Google Shape;186;p10" descr="preencoded.png"/>
          <p:cNvPicPr preferRelativeResize="0"/>
          <p:nvPr/>
        </p:nvPicPr>
        <p:blipFill rotWithShape="1">
          <a:blip r:embed="rId4">
            <a:alphaModFix/>
          </a:blip>
          <a:srcRect/>
          <a:stretch/>
        </p:blipFill>
        <p:spPr>
          <a:xfrm>
            <a:off x="5140300" y="1528420"/>
            <a:ext cx="189281" cy="189281"/>
          </a:xfrm>
          <a:prstGeom prst="rect">
            <a:avLst/>
          </a:prstGeom>
          <a:noFill/>
          <a:ln>
            <a:noFill/>
          </a:ln>
        </p:spPr>
      </p:pic>
      <p:sp>
        <p:nvSpPr>
          <p:cNvPr id="187" name="Google Shape;187;p10"/>
          <p:cNvSpPr txBox="1"/>
          <p:nvPr/>
        </p:nvSpPr>
        <p:spPr>
          <a:xfrm>
            <a:off x="5577840" y="1371600"/>
            <a:ext cx="30175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Arduino UNO R4 WiFi</a:t>
            </a:r>
            <a:endParaRPr sz="1400" b="0" i="0" u="none" strike="noStrike" cap="none" spc="0">
              <a:solidFill>
                <a:schemeClr val="dk1"/>
              </a:solidFill>
              <a:latin typeface="Calibri"/>
              <a:ea typeface="Calibri"/>
              <a:cs typeface="Calibri"/>
              <a:sym typeface="Calibri"/>
            </a:endParaRPr>
          </a:p>
        </p:txBody>
      </p:sp>
      <p:sp>
        <p:nvSpPr>
          <p:cNvPr id="188" name="Google Shape;188;p10"/>
          <p:cNvSpPr txBox="1"/>
          <p:nvPr/>
        </p:nvSpPr>
        <p:spPr>
          <a:xfrm>
            <a:off x="5577840" y="1645920"/>
            <a:ext cx="301752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Brain, Wi-Fi link to server, LED face</a:t>
            </a:r>
            <a:endParaRPr sz="1100" b="0" i="0" u="none" strike="noStrike" cap="none" spc="0">
              <a:solidFill>
                <a:schemeClr val="dk1"/>
              </a:solidFill>
              <a:latin typeface="Calibri"/>
              <a:ea typeface="Calibri"/>
              <a:cs typeface="Calibri"/>
              <a:sym typeface="Calibri"/>
            </a:endParaRPr>
          </a:p>
        </p:txBody>
      </p:sp>
      <p:sp>
        <p:nvSpPr>
          <p:cNvPr id="189" name="Google Shape;189;p10"/>
          <p:cNvSpPr/>
          <p:nvPr/>
        </p:nvSpPr>
        <p:spPr>
          <a:xfrm>
            <a:off x="5029200" y="2057400"/>
            <a:ext cx="411480" cy="41148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90" name="Google Shape;190;p10" descr="preencoded.png"/>
          <p:cNvPicPr preferRelativeResize="0"/>
          <p:nvPr/>
        </p:nvPicPr>
        <p:blipFill rotWithShape="1">
          <a:blip r:embed="rId5">
            <a:alphaModFix/>
          </a:blip>
          <a:srcRect/>
          <a:stretch/>
        </p:blipFill>
        <p:spPr>
          <a:xfrm>
            <a:off x="5140300" y="2168500"/>
            <a:ext cx="189281" cy="189281"/>
          </a:xfrm>
          <a:prstGeom prst="rect">
            <a:avLst/>
          </a:prstGeom>
          <a:noFill/>
          <a:ln>
            <a:noFill/>
          </a:ln>
        </p:spPr>
      </p:pic>
      <p:sp>
        <p:nvSpPr>
          <p:cNvPr id="191" name="Google Shape;191;p10"/>
          <p:cNvSpPr txBox="1"/>
          <p:nvPr/>
        </p:nvSpPr>
        <p:spPr>
          <a:xfrm>
            <a:off x="5577840" y="2011680"/>
            <a:ext cx="30175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L298N + 2 DC gear motors</a:t>
            </a:r>
            <a:endParaRPr sz="1400" b="0" i="0" u="none" strike="noStrike" cap="none" spc="0">
              <a:solidFill>
                <a:schemeClr val="dk1"/>
              </a:solidFill>
              <a:latin typeface="Calibri"/>
              <a:ea typeface="Calibri"/>
              <a:cs typeface="Calibri"/>
              <a:sym typeface="Calibri"/>
            </a:endParaRPr>
          </a:p>
        </p:txBody>
      </p:sp>
      <p:sp>
        <p:nvSpPr>
          <p:cNvPr id="192" name="Google Shape;192;p10"/>
          <p:cNvSpPr txBox="1"/>
          <p:nvPr/>
        </p:nvSpPr>
        <p:spPr>
          <a:xfrm>
            <a:off x="5577840" y="2286000"/>
            <a:ext cx="301752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PWM drive, automatic straight-line trim</a:t>
            </a:r>
            <a:endParaRPr sz="1100" b="0" i="0" u="none" strike="noStrike" cap="none" spc="0">
              <a:solidFill>
                <a:schemeClr val="dk1"/>
              </a:solidFill>
              <a:latin typeface="Calibri"/>
              <a:ea typeface="Calibri"/>
              <a:cs typeface="Calibri"/>
              <a:sym typeface="Calibri"/>
            </a:endParaRPr>
          </a:p>
        </p:txBody>
      </p:sp>
      <p:sp>
        <p:nvSpPr>
          <p:cNvPr id="193" name="Google Shape;193;p10"/>
          <p:cNvSpPr/>
          <p:nvPr/>
        </p:nvSpPr>
        <p:spPr>
          <a:xfrm>
            <a:off x="5029200" y="2697480"/>
            <a:ext cx="411480" cy="411480"/>
          </a:xfrm>
          <a:prstGeom prst="ellipse">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94" name="Google Shape;194;p10" descr="preencoded.png"/>
          <p:cNvPicPr preferRelativeResize="0"/>
          <p:nvPr/>
        </p:nvPicPr>
        <p:blipFill rotWithShape="1">
          <a:blip r:embed="rId6">
            <a:alphaModFix/>
          </a:blip>
          <a:srcRect/>
          <a:stretch/>
        </p:blipFill>
        <p:spPr>
          <a:xfrm>
            <a:off x="5140300" y="2808580"/>
            <a:ext cx="189281" cy="189281"/>
          </a:xfrm>
          <a:prstGeom prst="rect">
            <a:avLst/>
          </a:prstGeom>
          <a:noFill/>
          <a:ln>
            <a:noFill/>
          </a:ln>
        </p:spPr>
      </p:pic>
      <p:sp>
        <p:nvSpPr>
          <p:cNvPr id="195" name="Google Shape;195;p10"/>
          <p:cNvSpPr txBox="1"/>
          <p:nvPr/>
        </p:nvSpPr>
        <p:spPr>
          <a:xfrm>
            <a:off x="5577840" y="2651760"/>
            <a:ext cx="30175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HC-SR04 sonar</a:t>
            </a:r>
            <a:endParaRPr sz="1400" b="0" i="0" u="none" strike="noStrike" cap="none" spc="0">
              <a:solidFill>
                <a:schemeClr val="dk1"/>
              </a:solidFill>
              <a:latin typeface="Calibri"/>
              <a:ea typeface="Calibri"/>
              <a:cs typeface="Calibri"/>
              <a:sym typeface="Calibri"/>
            </a:endParaRPr>
          </a:p>
        </p:txBody>
      </p:sp>
      <p:sp>
        <p:nvSpPr>
          <p:cNvPr id="196" name="Google Shape;196;p10"/>
          <p:cNvSpPr txBox="1"/>
          <p:nvPr/>
        </p:nvSpPr>
        <p:spPr>
          <a:xfrm>
            <a:off x="5577840" y="2926080"/>
            <a:ext cx="301752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Looks out through the shell's front window</a:t>
            </a:r>
            <a:endParaRPr sz="1100" b="0" i="0" u="none" strike="noStrike" cap="none" spc="0">
              <a:solidFill>
                <a:schemeClr val="dk1"/>
              </a:solidFill>
              <a:latin typeface="Calibri"/>
              <a:ea typeface="Calibri"/>
              <a:cs typeface="Calibri"/>
              <a:sym typeface="Calibri"/>
            </a:endParaRPr>
          </a:p>
        </p:txBody>
      </p:sp>
      <p:sp>
        <p:nvSpPr>
          <p:cNvPr id="197" name="Google Shape;197;p10"/>
          <p:cNvSpPr/>
          <p:nvPr/>
        </p:nvSpPr>
        <p:spPr>
          <a:xfrm>
            <a:off x="5029200" y="3337560"/>
            <a:ext cx="411480" cy="41148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198" name="Google Shape;198;p10" descr="preencoded.png"/>
          <p:cNvPicPr preferRelativeResize="0"/>
          <p:nvPr/>
        </p:nvPicPr>
        <p:blipFill rotWithShape="1">
          <a:blip r:embed="rId7">
            <a:alphaModFix/>
          </a:blip>
          <a:srcRect/>
          <a:stretch/>
        </p:blipFill>
        <p:spPr>
          <a:xfrm>
            <a:off x="5140300" y="3448660"/>
            <a:ext cx="189281" cy="189281"/>
          </a:xfrm>
          <a:prstGeom prst="rect">
            <a:avLst/>
          </a:prstGeom>
          <a:noFill/>
          <a:ln>
            <a:noFill/>
          </a:ln>
        </p:spPr>
      </p:pic>
      <p:sp>
        <p:nvSpPr>
          <p:cNvPr id="199" name="Google Shape;199;p10"/>
          <p:cNvSpPr txBox="1"/>
          <p:nvPr/>
        </p:nvSpPr>
        <p:spPr>
          <a:xfrm>
            <a:off x="5577840" y="3291840"/>
            <a:ext cx="30175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Buzzer</a:t>
            </a:r>
            <a:endParaRPr sz="1400" b="0" i="0" u="none" strike="noStrike" cap="none" spc="0">
              <a:solidFill>
                <a:schemeClr val="dk1"/>
              </a:solidFill>
              <a:latin typeface="Calibri"/>
              <a:ea typeface="Calibri"/>
              <a:cs typeface="Calibri"/>
              <a:sym typeface="Calibri"/>
            </a:endParaRPr>
          </a:p>
        </p:txBody>
      </p:sp>
      <p:sp>
        <p:nvSpPr>
          <p:cNvPr id="200" name="Google Shape;200;p10"/>
          <p:cNvSpPr txBox="1"/>
          <p:nvPr/>
        </p:nvSpPr>
        <p:spPr>
          <a:xfrm>
            <a:off x="5577840" y="3566160"/>
            <a:ext cx="301752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Parking-sensor beeps from 45 cm</a:t>
            </a:r>
            <a:endParaRPr sz="1100" b="0" i="0" u="none" strike="noStrike" cap="none" spc="0">
              <a:solidFill>
                <a:schemeClr val="dk1"/>
              </a:solidFill>
              <a:latin typeface="Calibri"/>
              <a:ea typeface="Calibri"/>
              <a:cs typeface="Calibri"/>
              <a:sym typeface="Calibri"/>
            </a:endParaRPr>
          </a:p>
        </p:txBody>
      </p:sp>
      <p:sp>
        <p:nvSpPr>
          <p:cNvPr id="201" name="Google Shape;201;p10"/>
          <p:cNvSpPr/>
          <p:nvPr/>
        </p:nvSpPr>
        <p:spPr>
          <a:xfrm>
            <a:off x="5029200" y="3977640"/>
            <a:ext cx="411480" cy="41148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202" name="Google Shape;202;p10" descr="preencoded.png"/>
          <p:cNvPicPr preferRelativeResize="0"/>
          <p:nvPr/>
        </p:nvPicPr>
        <p:blipFill rotWithShape="1">
          <a:blip r:embed="rId8">
            <a:alphaModFix/>
          </a:blip>
          <a:srcRect/>
          <a:stretch/>
        </p:blipFill>
        <p:spPr>
          <a:xfrm>
            <a:off x="5140300" y="4088740"/>
            <a:ext cx="189281" cy="189281"/>
          </a:xfrm>
          <a:prstGeom prst="rect">
            <a:avLst/>
          </a:prstGeom>
          <a:noFill/>
          <a:ln>
            <a:noFill/>
          </a:ln>
        </p:spPr>
      </p:pic>
      <p:sp>
        <p:nvSpPr>
          <p:cNvPr id="203" name="Google Shape;203;p10"/>
          <p:cNvSpPr txBox="1"/>
          <p:nvPr/>
        </p:nvSpPr>
        <p:spPr>
          <a:xfrm>
            <a:off x="5577840" y="3931920"/>
            <a:ext cx="30175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2 × 18650 cells</a:t>
            </a:r>
            <a:endParaRPr sz="1400" b="0" i="0" u="none" strike="noStrike" cap="none" spc="0">
              <a:solidFill>
                <a:schemeClr val="dk1"/>
              </a:solidFill>
              <a:latin typeface="Calibri"/>
              <a:ea typeface="Calibri"/>
              <a:cs typeface="Calibri"/>
              <a:sym typeface="Calibri"/>
            </a:endParaRPr>
          </a:p>
        </p:txBody>
      </p:sp>
      <p:sp>
        <p:nvSpPr>
          <p:cNvPr id="204" name="Google Shape;204;p10"/>
          <p:cNvSpPr txBox="1"/>
          <p:nvPr/>
        </p:nvSpPr>
        <p:spPr>
          <a:xfrm>
            <a:off x="5577840" y="4206240"/>
            <a:ext cx="301752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Power for motors and board</a:t>
            </a:r>
            <a:endParaRPr sz="11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11"/>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0</a:t>
            </a:r>
            <a:r>
              <a:rPr lang="en-US" sz="1100" b="1" spc="100">
                <a:solidFill>
                  <a:schemeClr val="accent1"/>
                </a:solidFill>
                <a:latin typeface="Courier New"/>
                <a:ea typeface="Courier New"/>
                <a:cs typeface="Courier New"/>
                <a:sym typeface="Courier New"/>
              </a:rPr>
              <a:t>4</a:t>
            </a:r>
            <a:r>
              <a:rPr lang="en-US" sz="1100" b="1" i="0" u="none" strike="noStrike" cap="none" spc="100">
                <a:solidFill>
                  <a:schemeClr val="accent1"/>
                </a:solidFill>
                <a:latin typeface="Courier New"/>
                <a:ea typeface="Courier New"/>
                <a:cs typeface="Courier New"/>
                <a:sym typeface="Courier New"/>
              </a:rPr>
              <a:t> · DISTANCE + OBSTACLE AVOIDANCE</a:t>
            </a:r>
            <a:endParaRPr sz="1100" b="0" i="0" u="none" strike="noStrike" cap="none" spc="0">
              <a:solidFill>
                <a:schemeClr val="dk1"/>
              </a:solidFill>
              <a:latin typeface="Calibri"/>
              <a:ea typeface="Calibri"/>
              <a:cs typeface="Calibri"/>
              <a:sym typeface="Calibri"/>
            </a:endParaRPr>
          </a:p>
        </p:txBody>
      </p:sp>
      <p:sp>
        <p:nvSpPr>
          <p:cNvPr id="211" name="Google Shape;211;p11"/>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Camera says where, sonar says what</a:t>
            </a:r>
            <a:endParaRPr sz="3000"/>
          </a:p>
        </p:txBody>
      </p:sp>
      <p:sp>
        <p:nvSpPr>
          <p:cNvPr id="212" name="Google Shape;212;p11"/>
          <p:cNvSpPr/>
          <p:nvPr/>
        </p:nvSpPr>
        <p:spPr>
          <a:xfrm>
            <a:off x="548640"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3" name="Google Shape;213;p11"/>
          <p:cNvSpPr/>
          <p:nvPr/>
        </p:nvSpPr>
        <p:spPr>
          <a:xfrm>
            <a:off x="809244"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4" name="Google Shape;214;p11"/>
          <p:cNvSpPr/>
          <p:nvPr/>
        </p:nvSpPr>
        <p:spPr>
          <a:xfrm>
            <a:off x="1069848"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5" name="Google Shape;215;p11"/>
          <p:cNvSpPr/>
          <p:nvPr/>
        </p:nvSpPr>
        <p:spPr>
          <a:xfrm>
            <a:off x="1330452"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6" name="Google Shape;216;p11"/>
          <p:cNvSpPr/>
          <p:nvPr/>
        </p:nvSpPr>
        <p:spPr>
          <a:xfrm>
            <a:off x="1591056"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7" name="Google Shape;217;p11"/>
          <p:cNvSpPr/>
          <p:nvPr/>
        </p:nvSpPr>
        <p:spPr>
          <a:xfrm>
            <a:off x="1851660"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8" name="Google Shape;218;p11"/>
          <p:cNvSpPr/>
          <p:nvPr/>
        </p:nvSpPr>
        <p:spPr>
          <a:xfrm>
            <a:off x="2112264"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19" name="Google Shape;219;p11"/>
          <p:cNvSpPr/>
          <p:nvPr/>
        </p:nvSpPr>
        <p:spPr>
          <a:xfrm>
            <a:off x="2372868"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0" name="Google Shape;220;p11"/>
          <p:cNvSpPr/>
          <p:nvPr/>
        </p:nvSpPr>
        <p:spPr>
          <a:xfrm>
            <a:off x="2633472"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1" name="Google Shape;221;p11"/>
          <p:cNvSpPr/>
          <p:nvPr/>
        </p:nvSpPr>
        <p:spPr>
          <a:xfrm>
            <a:off x="2894076"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2" name="Google Shape;222;p11"/>
          <p:cNvSpPr/>
          <p:nvPr/>
        </p:nvSpPr>
        <p:spPr>
          <a:xfrm>
            <a:off x="3154680"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3" name="Google Shape;223;p11"/>
          <p:cNvSpPr/>
          <p:nvPr/>
        </p:nvSpPr>
        <p:spPr>
          <a:xfrm>
            <a:off x="3415284"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4" name="Google Shape;224;p11"/>
          <p:cNvSpPr/>
          <p:nvPr/>
        </p:nvSpPr>
        <p:spPr>
          <a:xfrm>
            <a:off x="3675888"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5" name="Google Shape;225;p11"/>
          <p:cNvSpPr/>
          <p:nvPr/>
        </p:nvSpPr>
        <p:spPr>
          <a:xfrm>
            <a:off x="3936492"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6" name="Google Shape;226;p11"/>
          <p:cNvSpPr/>
          <p:nvPr/>
        </p:nvSpPr>
        <p:spPr>
          <a:xfrm>
            <a:off x="4197096" y="141732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7" name="Google Shape;227;p11"/>
          <p:cNvSpPr/>
          <p:nvPr/>
        </p:nvSpPr>
        <p:spPr>
          <a:xfrm>
            <a:off x="548640"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8" name="Google Shape;228;p11"/>
          <p:cNvSpPr/>
          <p:nvPr/>
        </p:nvSpPr>
        <p:spPr>
          <a:xfrm>
            <a:off x="809244"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29" name="Google Shape;229;p11"/>
          <p:cNvSpPr/>
          <p:nvPr/>
        </p:nvSpPr>
        <p:spPr>
          <a:xfrm>
            <a:off x="1069848"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0" name="Google Shape;230;p11"/>
          <p:cNvSpPr/>
          <p:nvPr/>
        </p:nvSpPr>
        <p:spPr>
          <a:xfrm>
            <a:off x="1330452"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1" name="Google Shape;231;p11"/>
          <p:cNvSpPr/>
          <p:nvPr/>
        </p:nvSpPr>
        <p:spPr>
          <a:xfrm>
            <a:off x="1591056"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2" name="Google Shape;232;p11"/>
          <p:cNvSpPr/>
          <p:nvPr/>
        </p:nvSpPr>
        <p:spPr>
          <a:xfrm>
            <a:off x="1851660"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3" name="Google Shape;233;p11"/>
          <p:cNvSpPr/>
          <p:nvPr/>
        </p:nvSpPr>
        <p:spPr>
          <a:xfrm>
            <a:off x="2112264"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4" name="Google Shape;234;p11"/>
          <p:cNvSpPr/>
          <p:nvPr/>
        </p:nvSpPr>
        <p:spPr>
          <a:xfrm>
            <a:off x="2372868"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5" name="Google Shape;235;p11"/>
          <p:cNvSpPr/>
          <p:nvPr/>
        </p:nvSpPr>
        <p:spPr>
          <a:xfrm>
            <a:off x="2633472"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6" name="Google Shape;236;p11"/>
          <p:cNvSpPr/>
          <p:nvPr/>
        </p:nvSpPr>
        <p:spPr>
          <a:xfrm>
            <a:off x="2894076"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7" name="Google Shape;237;p11"/>
          <p:cNvSpPr/>
          <p:nvPr/>
        </p:nvSpPr>
        <p:spPr>
          <a:xfrm>
            <a:off x="3154680"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8" name="Google Shape;238;p11"/>
          <p:cNvSpPr/>
          <p:nvPr/>
        </p:nvSpPr>
        <p:spPr>
          <a:xfrm>
            <a:off x="3415284"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39" name="Google Shape;239;p11"/>
          <p:cNvSpPr/>
          <p:nvPr/>
        </p:nvSpPr>
        <p:spPr>
          <a:xfrm>
            <a:off x="3675888"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0" name="Google Shape;240;p11"/>
          <p:cNvSpPr/>
          <p:nvPr/>
        </p:nvSpPr>
        <p:spPr>
          <a:xfrm>
            <a:off x="3936492"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1" name="Google Shape;241;p11"/>
          <p:cNvSpPr/>
          <p:nvPr/>
        </p:nvSpPr>
        <p:spPr>
          <a:xfrm>
            <a:off x="4197096" y="167792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2" name="Google Shape;242;p11"/>
          <p:cNvSpPr/>
          <p:nvPr/>
        </p:nvSpPr>
        <p:spPr>
          <a:xfrm>
            <a:off x="548640"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3" name="Google Shape;243;p11"/>
          <p:cNvSpPr/>
          <p:nvPr/>
        </p:nvSpPr>
        <p:spPr>
          <a:xfrm>
            <a:off x="809244"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4" name="Google Shape;244;p11"/>
          <p:cNvSpPr/>
          <p:nvPr/>
        </p:nvSpPr>
        <p:spPr>
          <a:xfrm>
            <a:off x="1069848"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5" name="Google Shape;245;p11"/>
          <p:cNvSpPr/>
          <p:nvPr/>
        </p:nvSpPr>
        <p:spPr>
          <a:xfrm>
            <a:off x="1330452"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6" name="Google Shape;246;p11"/>
          <p:cNvSpPr/>
          <p:nvPr/>
        </p:nvSpPr>
        <p:spPr>
          <a:xfrm>
            <a:off x="1591056"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7" name="Google Shape;247;p11"/>
          <p:cNvSpPr/>
          <p:nvPr/>
        </p:nvSpPr>
        <p:spPr>
          <a:xfrm>
            <a:off x="1851660" y="193852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8" name="Google Shape;248;p11"/>
          <p:cNvSpPr/>
          <p:nvPr/>
        </p:nvSpPr>
        <p:spPr>
          <a:xfrm>
            <a:off x="2112264" y="193852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49" name="Google Shape;249;p11"/>
          <p:cNvSpPr/>
          <p:nvPr/>
        </p:nvSpPr>
        <p:spPr>
          <a:xfrm>
            <a:off x="2372868" y="193852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0" name="Google Shape;250;p11"/>
          <p:cNvSpPr/>
          <p:nvPr/>
        </p:nvSpPr>
        <p:spPr>
          <a:xfrm>
            <a:off x="2633472" y="193852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1" name="Google Shape;251;p11"/>
          <p:cNvSpPr/>
          <p:nvPr/>
        </p:nvSpPr>
        <p:spPr>
          <a:xfrm>
            <a:off x="2894076"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2" name="Google Shape;252;p11"/>
          <p:cNvSpPr/>
          <p:nvPr/>
        </p:nvSpPr>
        <p:spPr>
          <a:xfrm>
            <a:off x="3154680"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3" name="Google Shape;253;p11"/>
          <p:cNvSpPr/>
          <p:nvPr/>
        </p:nvSpPr>
        <p:spPr>
          <a:xfrm>
            <a:off x="3415284" y="1938528"/>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4" name="Google Shape;254;p11"/>
          <p:cNvSpPr/>
          <p:nvPr/>
        </p:nvSpPr>
        <p:spPr>
          <a:xfrm>
            <a:off x="3675888"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5" name="Google Shape;255;p11"/>
          <p:cNvSpPr/>
          <p:nvPr/>
        </p:nvSpPr>
        <p:spPr>
          <a:xfrm>
            <a:off x="3936492"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6" name="Google Shape;256;p11"/>
          <p:cNvSpPr/>
          <p:nvPr/>
        </p:nvSpPr>
        <p:spPr>
          <a:xfrm>
            <a:off x="4197096" y="193852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7" name="Google Shape;257;p11"/>
          <p:cNvSpPr/>
          <p:nvPr/>
        </p:nvSpPr>
        <p:spPr>
          <a:xfrm>
            <a:off x="548640"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8" name="Google Shape;258;p11"/>
          <p:cNvSpPr/>
          <p:nvPr/>
        </p:nvSpPr>
        <p:spPr>
          <a:xfrm>
            <a:off x="809244"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59" name="Google Shape;259;p11"/>
          <p:cNvSpPr/>
          <p:nvPr/>
        </p:nvSpPr>
        <p:spPr>
          <a:xfrm>
            <a:off x="1069848"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0" name="Google Shape;260;p11"/>
          <p:cNvSpPr/>
          <p:nvPr/>
        </p:nvSpPr>
        <p:spPr>
          <a:xfrm>
            <a:off x="1330452"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1" name="Google Shape;261;p11"/>
          <p:cNvSpPr/>
          <p:nvPr/>
        </p:nvSpPr>
        <p:spPr>
          <a:xfrm>
            <a:off x="1591056"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2" name="Google Shape;262;p11"/>
          <p:cNvSpPr/>
          <p:nvPr/>
        </p:nvSpPr>
        <p:spPr>
          <a:xfrm>
            <a:off x="1851660" y="2199132"/>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3" name="Google Shape;263;p11"/>
          <p:cNvSpPr/>
          <p:nvPr/>
        </p:nvSpPr>
        <p:spPr>
          <a:xfrm>
            <a:off x="2112264" y="2199132"/>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4" name="Google Shape;264;p11"/>
          <p:cNvSpPr/>
          <p:nvPr/>
        </p:nvSpPr>
        <p:spPr>
          <a:xfrm>
            <a:off x="2372868" y="2199132"/>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5" name="Google Shape;265;p11"/>
          <p:cNvSpPr/>
          <p:nvPr/>
        </p:nvSpPr>
        <p:spPr>
          <a:xfrm>
            <a:off x="2633472" y="2199132"/>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6" name="Google Shape;266;p11"/>
          <p:cNvSpPr/>
          <p:nvPr/>
        </p:nvSpPr>
        <p:spPr>
          <a:xfrm>
            <a:off x="2894076"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7" name="Google Shape;267;p11"/>
          <p:cNvSpPr/>
          <p:nvPr/>
        </p:nvSpPr>
        <p:spPr>
          <a:xfrm>
            <a:off x="3154680" y="2199132"/>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8" name="Google Shape;268;p11"/>
          <p:cNvSpPr/>
          <p:nvPr/>
        </p:nvSpPr>
        <p:spPr>
          <a:xfrm>
            <a:off x="3415284"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69" name="Google Shape;269;p11"/>
          <p:cNvSpPr/>
          <p:nvPr/>
        </p:nvSpPr>
        <p:spPr>
          <a:xfrm>
            <a:off x="3675888"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0" name="Google Shape;270;p11"/>
          <p:cNvSpPr/>
          <p:nvPr/>
        </p:nvSpPr>
        <p:spPr>
          <a:xfrm>
            <a:off x="3936492"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1" name="Google Shape;271;p11"/>
          <p:cNvSpPr/>
          <p:nvPr/>
        </p:nvSpPr>
        <p:spPr>
          <a:xfrm>
            <a:off x="4197096" y="219913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2" name="Google Shape;272;p11"/>
          <p:cNvSpPr/>
          <p:nvPr/>
        </p:nvSpPr>
        <p:spPr>
          <a:xfrm>
            <a:off x="548640"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3" name="Google Shape;273;p11"/>
          <p:cNvSpPr/>
          <p:nvPr/>
        </p:nvSpPr>
        <p:spPr>
          <a:xfrm>
            <a:off x="809244"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4" name="Google Shape;274;p11"/>
          <p:cNvSpPr/>
          <p:nvPr/>
        </p:nvSpPr>
        <p:spPr>
          <a:xfrm>
            <a:off x="1069848"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5" name="Google Shape;275;p11"/>
          <p:cNvSpPr/>
          <p:nvPr/>
        </p:nvSpPr>
        <p:spPr>
          <a:xfrm>
            <a:off x="1330452"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6" name="Google Shape;276;p11"/>
          <p:cNvSpPr/>
          <p:nvPr/>
        </p:nvSpPr>
        <p:spPr>
          <a:xfrm>
            <a:off x="1591056"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7" name="Google Shape;277;p11"/>
          <p:cNvSpPr/>
          <p:nvPr/>
        </p:nvSpPr>
        <p:spPr>
          <a:xfrm>
            <a:off x="1851660" y="245973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8" name="Google Shape;278;p11"/>
          <p:cNvSpPr/>
          <p:nvPr/>
        </p:nvSpPr>
        <p:spPr>
          <a:xfrm>
            <a:off x="2112264" y="2459736"/>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79" name="Google Shape;279;p11"/>
          <p:cNvSpPr/>
          <p:nvPr/>
        </p:nvSpPr>
        <p:spPr>
          <a:xfrm>
            <a:off x="2372868" y="2459736"/>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0" name="Google Shape;280;p11"/>
          <p:cNvSpPr/>
          <p:nvPr/>
        </p:nvSpPr>
        <p:spPr>
          <a:xfrm>
            <a:off x="2633472" y="245973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1" name="Google Shape;281;p11"/>
          <p:cNvSpPr/>
          <p:nvPr/>
        </p:nvSpPr>
        <p:spPr>
          <a:xfrm>
            <a:off x="2894076" y="2459736"/>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2" name="Google Shape;282;p11"/>
          <p:cNvSpPr/>
          <p:nvPr/>
        </p:nvSpPr>
        <p:spPr>
          <a:xfrm>
            <a:off x="3154680"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3" name="Google Shape;283;p11"/>
          <p:cNvSpPr/>
          <p:nvPr/>
        </p:nvSpPr>
        <p:spPr>
          <a:xfrm>
            <a:off x="3415284"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4" name="Google Shape;284;p11"/>
          <p:cNvSpPr/>
          <p:nvPr/>
        </p:nvSpPr>
        <p:spPr>
          <a:xfrm>
            <a:off x="3675888"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5" name="Google Shape;285;p11"/>
          <p:cNvSpPr/>
          <p:nvPr/>
        </p:nvSpPr>
        <p:spPr>
          <a:xfrm>
            <a:off x="3936492"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6" name="Google Shape;286;p11"/>
          <p:cNvSpPr/>
          <p:nvPr/>
        </p:nvSpPr>
        <p:spPr>
          <a:xfrm>
            <a:off x="4197096" y="245973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7" name="Google Shape;287;p11"/>
          <p:cNvSpPr/>
          <p:nvPr/>
        </p:nvSpPr>
        <p:spPr>
          <a:xfrm>
            <a:off x="548640"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8" name="Google Shape;288;p11"/>
          <p:cNvSpPr/>
          <p:nvPr/>
        </p:nvSpPr>
        <p:spPr>
          <a:xfrm>
            <a:off x="809244"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89" name="Google Shape;289;p11"/>
          <p:cNvSpPr/>
          <p:nvPr/>
        </p:nvSpPr>
        <p:spPr>
          <a:xfrm>
            <a:off x="1069848"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0" name="Google Shape;290;p11"/>
          <p:cNvSpPr/>
          <p:nvPr/>
        </p:nvSpPr>
        <p:spPr>
          <a:xfrm>
            <a:off x="1330452"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1" name="Google Shape;291;p11"/>
          <p:cNvSpPr/>
          <p:nvPr/>
        </p:nvSpPr>
        <p:spPr>
          <a:xfrm>
            <a:off x="1591056"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2" name="Google Shape;292;p11"/>
          <p:cNvSpPr/>
          <p:nvPr/>
        </p:nvSpPr>
        <p:spPr>
          <a:xfrm>
            <a:off x="1851660"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3" name="Google Shape;293;p11"/>
          <p:cNvSpPr/>
          <p:nvPr/>
        </p:nvSpPr>
        <p:spPr>
          <a:xfrm>
            <a:off x="2112264"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4" name="Google Shape;294;p11"/>
          <p:cNvSpPr/>
          <p:nvPr/>
        </p:nvSpPr>
        <p:spPr>
          <a:xfrm>
            <a:off x="2372868"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5" name="Google Shape;295;p11"/>
          <p:cNvSpPr/>
          <p:nvPr/>
        </p:nvSpPr>
        <p:spPr>
          <a:xfrm>
            <a:off x="2633472"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6" name="Google Shape;296;p11"/>
          <p:cNvSpPr/>
          <p:nvPr/>
        </p:nvSpPr>
        <p:spPr>
          <a:xfrm>
            <a:off x="2894076" y="2720340"/>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7" name="Google Shape;297;p11"/>
          <p:cNvSpPr/>
          <p:nvPr/>
        </p:nvSpPr>
        <p:spPr>
          <a:xfrm>
            <a:off x="3154680"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8" name="Google Shape;298;p11"/>
          <p:cNvSpPr/>
          <p:nvPr/>
        </p:nvSpPr>
        <p:spPr>
          <a:xfrm>
            <a:off x="3415284"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299" name="Google Shape;299;p11"/>
          <p:cNvSpPr/>
          <p:nvPr/>
        </p:nvSpPr>
        <p:spPr>
          <a:xfrm>
            <a:off x="3675888"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0" name="Google Shape;300;p11"/>
          <p:cNvSpPr/>
          <p:nvPr/>
        </p:nvSpPr>
        <p:spPr>
          <a:xfrm>
            <a:off x="3936492" y="2720340"/>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1" name="Google Shape;301;p11"/>
          <p:cNvSpPr/>
          <p:nvPr/>
        </p:nvSpPr>
        <p:spPr>
          <a:xfrm>
            <a:off x="4197096" y="272034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2" name="Google Shape;302;p11"/>
          <p:cNvSpPr/>
          <p:nvPr/>
        </p:nvSpPr>
        <p:spPr>
          <a:xfrm>
            <a:off x="548640"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3" name="Google Shape;303;p11"/>
          <p:cNvSpPr/>
          <p:nvPr/>
        </p:nvSpPr>
        <p:spPr>
          <a:xfrm>
            <a:off x="809244"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4" name="Google Shape;304;p11"/>
          <p:cNvSpPr/>
          <p:nvPr/>
        </p:nvSpPr>
        <p:spPr>
          <a:xfrm>
            <a:off x="1069848"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5" name="Google Shape;305;p11"/>
          <p:cNvSpPr/>
          <p:nvPr/>
        </p:nvSpPr>
        <p:spPr>
          <a:xfrm>
            <a:off x="1330452"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6" name="Google Shape;306;p11"/>
          <p:cNvSpPr/>
          <p:nvPr/>
        </p:nvSpPr>
        <p:spPr>
          <a:xfrm>
            <a:off x="1591056"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7" name="Google Shape;307;p11"/>
          <p:cNvSpPr/>
          <p:nvPr/>
        </p:nvSpPr>
        <p:spPr>
          <a:xfrm>
            <a:off x="1851660" y="2980944"/>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8" name="Google Shape;308;p11"/>
          <p:cNvSpPr/>
          <p:nvPr/>
        </p:nvSpPr>
        <p:spPr>
          <a:xfrm>
            <a:off x="2112264" y="2980944"/>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09" name="Google Shape;309;p11"/>
          <p:cNvSpPr/>
          <p:nvPr/>
        </p:nvSpPr>
        <p:spPr>
          <a:xfrm>
            <a:off x="2372868" y="2980944"/>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0" name="Google Shape;310;p11"/>
          <p:cNvSpPr/>
          <p:nvPr/>
        </p:nvSpPr>
        <p:spPr>
          <a:xfrm>
            <a:off x="2633472" y="2980944"/>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1" name="Google Shape;311;p11"/>
          <p:cNvSpPr/>
          <p:nvPr/>
        </p:nvSpPr>
        <p:spPr>
          <a:xfrm>
            <a:off x="2894076"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2" name="Google Shape;312;p11"/>
          <p:cNvSpPr/>
          <p:nvPr/>
        </p:nvSpPr>
        <p:spPr>
          <a:xfrm>
            <a:off x="3154680" y="2980944"/>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3" name="Google Shape;313;p11"/>
          <p:cNvSpPr/>
          <p:nvPr/>
        </p:nvSpPr>
        <p:spPr>
          <a:xfrm>
            <a:off x="3415284" y="2980944"/>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4" name="Google Shape;314;p11"/>
          <p:cNvSpPr/>
          <p:nvPr/>
        </p:nvSpPr>
        <p:spPr>
          <a:xfrm>
            <a:off x="3675888" y="2980944"/>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5" name="Google Shape;315;p11"/>
          <p:cNvSpPr/>
          <p:nvPr/>
        </p:nvSpPr>
        <p:spPr>
          <a:xfrm>
            <a:off x="3936492" y="2980944"/>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6" name="Google Shape;316;p11"/>
          <p:cNvSpPr/>
          <p:nvPr/>
        </p:nvSpPr>
        <p:spPr>
          <a:xfrm>
            <a:off x="4197096" y="2980944"/>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7" name="Google Shape;317;p11"/>
          <p:cNvSpPr/>
          <p:nvPr/>
        </p:nvSpPr>
        <p:spPr>
          <a:xfrm>
            <a:off x="548640"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8" name="Google Shape;318;p11"/>
          <p:cNvSpPr/>
          <p:nvPr/>
        </p:nvSpPr>
        <p:spPr>
          <a:xfrm>
            <a:off x="809244"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19" name="Google Shape;319;p11"/>
          <p:cNvSpPr/>
          <p:nvPr/>
        </p:nvSpPr>
        <p:spPr>
          <a:xfrm>
            <a:off x="1069848"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0" name="Google Shape;320;p11"/>
          <p:cNvSpPr/>
          <p:nvPr/>
        </p:nvSpPr>
        <p:spPr>
          <a:xfrm>
            <a:off x="1330452"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1" name="Google Shape;321;p11"/>
          <p:cNvSpPr/>
          <p:nvPr/>
        </p:nvSpPr>
        <p:spPr>
          <a:xfrm>
            <a:off x="1591056" y="3241548"/>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2" name="Google Shape;322;p11"/>
          <p:cNvSpPr/>
          <p:nvPr/>
        </p:nvSpPr>
        <p:spPr>
          <a:xfrm>
            <a:off x="1851660"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3" name="Google Shape;323;p11"/>
          <p:cNvSpPr/>
          <p:nvPr/>
        </p:nvSpPr>
        <p:spPr>
          <a:xfrm>
            <a:off x="2112264"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4" name="Google Shape;324;p11"/>
          <p:cNvSpPr/>
          <p:nvPr/>
        </p:nvSpPr>
        <p:spPr>
          <a:xfrm>
            <a:off x="2372868"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5" name="Google Shape;325;p11"/>
          <p:cNvSpPr/>
          <p:nvPr/>
        </p:nvSpPr>
        <p:spPr>
          <a:xfrm>
            <a:off x="2633472"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6" name="Google Shape;326;p11"/>
          <p:cNvSpPr/>
          <p:nvPr/>
        </p:nvSpPr>
        <p:spPr>
          <a:xfrm>
            <a:off x="2894076"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7" name="Google Shape;327;p11"/>
          <p:cNvSpPr/>
          <p:nvPr/>
        </p:nvSpPr>
        <p:spPr>
          <a:xfrm>
            <a:off x="3154680" y="324154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8" name="Google Shape;328;p11"/>
          <p:cNvSpPr/>
          <p:nvPr/>
        </p:nvSpPr>
        <p:spPr>
          <a:xfrm>
            <a:off x="3415284" y="3241548"/>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29" name="Google Shape;329;p11"/>
          <p:cNvSpPr/>
          <p:nvPr/>
        </p:nvSpPr>
        <p:spPr>
          <a:xfrm>
            <a:off x="3675888" y="3241548"/>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0" name="Google Shape;330;p11"/>
          <p:cNvSpPr/>
          <p:nvPr/>
        </p:nvSpPr>
        <p:spPr>
          <a:xfrm>
            <a:off x="3936492" y="3241548"/>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1" name="Google Shape;331;p11"/>
          <p:cNvSpPr/>
          <p:nvPr/>
        </p:nvSpPr>
        <p:spPr>
          <a:xfrm>
            <a:off x="4197096" y="3241548"/>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2" name="Google Shape;332;p11"/>
          <p:cNvSpPr/>
          <p:nvPr/>
        </p:nvSpPr>
        <p:spPr>
          <a:xfrm>
            <a:off x="548640"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3" name="Google Shape;333;p11"/>
          <p:cNvSpPr/>
          <p:nvPr/>
        </p:nvSpPr>
        <p:spPr>
          <a:xfrm>
            <a:off x="809244"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4" name="Google Shape;334;p11"/>
          <p:cNvSpPr/>
          <p:nvPr/>
        </p:nvSpPr>
        <p:spPr>
          <a:xfrm>
            <a:off x="1069848"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5" name="Google Shape;335;p11"/>
          <p:cNvSpPr/>
          <p:nvPr/>
        </p:nvSpPr>
        <p:spPr>
          <a:xfrm>
            <a:off x="1330452" y="3502152"/>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6" name="Google Shape;336;p11"/>
          <p:cNvSpPr/>
          <p:nvPr/>
        </p:nvSpPr>
        <p:spPr>
          <a:xfrm>
            <a:off x="1591056"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7" name="Google Shape;337;p11"/>
          <p:cNvSpPr/>
          <p:nvPr/>
        </p:nvSpPr>
        <p:spPr>
          <a:xfrm>
            <a:off x="1851660"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8" name="Google Shape;338;p11"/>
          <p:cNvSpPr/>
          <p:nvPr/>
        </p:nvSpPr>
        <p:spPr>
          <a:xfrm>
            <a:off x="2112264"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39" name="Google Shape;339;p11"/>
          <p:cNvSpPr/>
          <p:nvPr/>
        </p:nvSpPr>
        <p:spPr>
          <a:xfrm>
            <a:off x="2372868"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0" name="Google Shape;340;p11"/>
          <p:cNvSpPr/>
          <p:nvPr/>
        </p:nvSpPr>
        <p:spPr>
          <a:xfrm>
            <a:off x="2633472"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1" name="Google Shape;341;p11"/>
          <p:cNvSpPr/>
          <p:nvPr/>
        </p:nvSpPr>
        <p:spPr>
          <a:xfrm>
            <a:off x="2894076"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2" name="Google Shape;342;p11"/>
          <p:cNvSpPr/>
          <p:nvPr/>
        </p:nvSpPr>
        <p:spPr>
          <a:xfrm>
            <a:off x="3154680" y="3502152"/>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3" name="Google Shape;343;p11"/>
          <p:cNvSpPr/>
          <p:nvPr/>
        </p:nvSpPr>
        <p:spPr>
          <a:xfrm>
            <a:off x="3415284" y="3502152"/>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4" name="Google Shape;344;p11"/>
          <p:cNvSpPr/>
          <p:nvPr/>
        </p:nvSpPr>
        <p:spPr>
          <a:xfrm>
            <a:off x="3675888" y="3502152"/>
            <a:ext cx="233172" cy="233172"/>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5" name="Google Shape;345;p11"/>
          <p:cNvSpPr/>
          <p:nvPr/>
        </p:nvSpPr>
        <p:spPr>
          <a:xfrm>
            <a:off x="3936492" y="3502152"/>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6" name="Google Shape;346;p11"/>
          <p:cNvSpPr/>
          <p:nvPr/>
        </p:nvSpPr>
        <p:spPr>
          <a:xfrm>
            <a:off x="4197096" y="3502152"/>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7" name="Google Shape;347;p11"/>
          <p:cNvSpPr/>
          <p:nvPr/>
        </p:nvSpPr>
        <p:spPr>
          <a:xfrm>
            <a:off x="548640"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8" name="Google Shape;348;p11"/>
          <p:cNvSpPr/>
          <p:nvPr/>
        </p:nvSpPr>
        <p:spPr>
          <a:xfrm>
            <a:off x="809244"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49" name="Google Shape;349;p11"/>
          <p:cNvSpPr/>
          <p:nvPr/>
        </p:nvSpPr>
        <p:spPr>
          <a:xfrm>
            <a:off x="1069848" y="3762756"/>
            <a:ext cx="233172" cy="233172"/>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0" name="Google Shape;350;p11"/>
          <p:cNvSpPr/>
          <p:nvPr/>
        </p:nvSpPr>
        <p:spPr>
          <a:xfrm>
            <a:off x="1330452"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1" name="Google Shape;351;p11"/>
          <p:cNvSpPr/>
          <p:nvPr/>
        </p:nvSpPr>
        <p:spPr>
          <a:xfrm>
            <a:off x="1591056"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2" name="Google Shape;352;p11"/>
          <p:cNvSpPr/>
          <p:nvPr/>
        </p:nvSpPr>
        <p:spPr>
          <a:xfrm>
            <a:off x="1851660"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3" name="Google Shape;353;p11"/>
          <p:cNvSpPr/>
          <p:nvPr/>
        </p:nvSpPr>
        <p:spPr>
          <a:xfrm>
            <a:off x="2112264"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4" name="Google Shape;354;p11"/>
          <p:cNvSpPr/>
          <p:nvPr/>
        </p:nvSpPr>
        <p:spPr>
          <a:xfrm>
            <a:off x="2372868"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5" name="Google Shape;355;p11"/>
          <p:cNvSpPr/>
          <p:nvPr/>
        </p:nvSpPr>
        <p:spPr>
          <a:xfrm>
            <a:off x="2633472"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6" name="Google Shape;356;p11"/>
          <p:cNvSpPr/>
          <p:nvPr/>
        </p:nvSpPr>
        <p:spPr>
          <a:xfrm>
            <a:off x="2894076"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7" name="Google Shape;357;p11"/>
          <p:cNvSpPr/>
          <p:nvPr/>
        </p:nvSpPr>
        <p:spPr>
          <a:xfrm>
            <a:off x="3154680" y="376275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8" name="Google Shape;358;p11"/>
          <p:cNvSpPr/>
          <p:nvPr/>
        </p:nvSpPr>
        <p:spPr>
          <a:xfrm>
            <a:off x="3415284" y="376275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59" name="Google Shape;359;p11"/>
          <p:cNvSpPr/>
          <p:nvPr/>
        </p:nvSpPr>
        <p:spPr>
          <a:xfrm>
            <a:off x="3675888" y="376275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0" name="Google Shape;360;p11"/>
          <p:cNvSpPr/>
          <p:nvPr/>
        </p:nvSpPr>
        <p:spPr>
          <a:xfrm>
            <a:off x="3936492" y="3762756"/>
            <a:ext cx="233172" cy="233172"/>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1" name="Google Shape;361;p11"/>
          <p:cNvSpPr/>
          <p:nvPr/>
        </p:nvSpPr>
        <p:spPr>
          <a:xfrm>
            <a:off x="4197096" y="3762756"/>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2" name="Google Shape;362;p11"/>
          <p:cNvSpPr/>
          <p:nvPr/>
        </p:nvSpPr>
        <p:spPr>
          <a:xfrm>
            <a:off x="548640"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3" name="Google Shape;363;p11"/>
          <p:cNvSpPr/>
          <p:nvPr/>
        </p:nvSpPr>
        <p:spPr>
          <a:xfrm>
            <a:off x="809244"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4" name="Google Shape;364;p11"/>
          <p:cNvSpPr/>
          <p:nvPr/>
        </p:nvSpPr>
        <p:spPr>
          <a:xfrm>
            <a:off x="1069848"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5" name="Google Shape;365;p11"/>
          <p:cNvSpPr/>
          <p:nvPr/>
        </p:nvSpPr>
        <p:spPr>
          <a:xfrm>
            <a:off x="1330452"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6" name="Google Shape;366;p11"/>
          <p:cNvSpPr/>
          <p:nvPr/>
        </p:nvSpPr>
        <p:spPr>
          <a:xfrm>
            <a:off x="1591056"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7" name="Google Shape;367;p11"/>
          <p:cNvSpPr/>
          <p:nvPr/>
        </p:nvSpPr>
        <p:spPr>
          <a:xfrm>
            <a:off x="1851660"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8" name="Google Shape;368;p11"/>
          <p:cNvSpPr/>
          <p:nvPr/>
        </p:nvSpPr>
        <p:spPr>
          <a:xfrm>
            <a:off x="2112264"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69" name="Google Shape;369;p11"/>
          <p:cNvSpPr/>
          <p:nvPr/>
        </p:nvSpPr>
        <p:spPr>
          <a:xfrm>
            <a:off x="2372868"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0" name="Google Shape;370;p11"/>
          <p:cNvSpPr/>
          <p:nvPr/>
        </p:nvSpPr>
        <p:spPr>
          <a:xfrm>
            <a:off x="2633472"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1" name="Google Shape;371;p11"/>
          <p:cNvSpPr/>
          <p:nvPr/>
        </p:nvSpPr>
        <p:spPr>
          <a:xfrm>
            <a:off x="2894076"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2" name="Google Shape;372;p11"/>
          <p:cNvSpPr/>
          <p:nvPr/>
        </p:nvSpPr>
        <p:spPr>
          <a:xfrm>
            <a:off x="3154680"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3" name="Google Shape;373;p11"/>
          <p:cNvSpPr/>
          <p:nvPr/>
        </p:nvSpPr>
        <p:spPr>
          <a:xfrm>
            <a:off x="3415284"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4" name="Google Shape;374;p11"/>
          <p:cNvSpPr/>
          <p:nvPr/>
        </p:nvSpPr>
        <p:spPr>
          <a:xfrm>
            <a:off x="3675888"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5" name="Google Shape;375;p11"/>
          <p:cNvSpPr/>
          <p:nvPr/>
        </p:nvSpPr>
        <p:spPr>
          <a:xfrm>
            <a:off x="3936492"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6" name="Google Shape;376;p11"/>
          <p:cNvSpPr/>
          <p:nvPr/>
        </p:nvSpPr>
        <p:spPr>
          <a:xfrm>
            <a:off x="4197096" y="4023360"/>
            <a:ext cx="233172" cy="233172"/>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7" name="Google Shape;377;p11"/>
          <p:cNvSpPr/>
          <p:nvPr/>
        </p:nvSpPr>
        <p:spPr>
          <a:xfrm>
            <a:off x="781812" y="3735324"/>
            <a:ext cx="288036" cy="288036"/>
          </a:xfrm>
          <a:prstGeom prst="roundRect">
            <a:avLst>
              <a:gd name="adj" fmla="val 12698"/>
            </a:avLst>
          </a:prstGeom>
          <a:solidFill>
            <a:srgbClr val="FF5A1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78" name="Google Shape;378;p11"/>
          <p:cNvSpPr/>
          <p:nvPr/>
        </p:nvSpPr>
        <p:spPr>
          <a:xfrm>
            <a:off x="3657600" y="1659636"/>
            <a:ext cx="269748" cy="269748"/>
          </a:xfrm>
          <a:prstGeom prst="ellipse">
            <a:avLst/>
          </a:prstGeom>
          <a:solidFill>
            <a:schemeClr val="lt1"/>
          </a:solidFill>
          <a:ln w="31750" cap="flat" cmpd="sng">
            <a:solidFill>
              <a:srgbClr val="14B8A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cxnSp>
        <p:nvCxnSpPr>
          <p:cNvPr id="379" name="Google Shape;379;p11"/>
          <p:cNvCxnSpPr/>
          <p:nvPr/>
        </p:nvCxnSpPr>
        <p:spPr>
          <a:xfrm rot="10800000" flipH="1">
            <a:off x="1030757" y="2707310"/>
            <a:ext cx="1068476" cy="1055446"/>
          </a:xfrm>
          <a:prstGeom prst="straightConnector1">
            <a:avLst/>
          </a:prstGeom>
          <a:noFill/>
          <a:ln w="25400" cap="flat" cmpd="sng">
            <a:solidFill>
              <a:srgbClr val="FFB020"/>
            </a:solidFill>
            <a:prstDash val="dash"/>
            <a:round/>
            <a:headEnd type="none" w="sm" len="sm"/>
            <a:tailEnd type="none" w="sm" len="sm"/>
          </a:ln>
        </p:spPr>
      </p:cxnSp>
      <p:sp>
        <p:nvSpPr>
          <p:cNvPr id="380" name="Google Shape;380;p11"/>
          <p:cNvSpPr/>
          <p:nvPr/>
        </p:nvSpPr>
        <p:spPr>
          <a:xfrm>
            <a:off x="548640" y="4370832"/>
            <a:ext cx="146304" cy="146304"/>
          </a:xfrm>
          <a:prstGeom prst="rect">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81" name="Google Shape;381;p11"/>
          <p:cNvSpPr txBox="1"/>
          <p:nvPr/>
        </p:nvSpPr>
        <p:spPr>
          <a:xfrm>
            <a:off x="749808" y="4315968"/>
            <a:ext cx="114300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000"/>
              <a:buFont typeface="Calibri"/>
              <a:buNone/>
            </a:pPr>
            <a:r>
              <a:rPr lang="en-US" sz="1000" b="0" i="0" u="none" strike="noStrike" cap="none" spc="0">
                <a:solidFill>
                  <a:srgbClr val="5B6573"/>
                </a:solidFill>
                <a:latin typeface="Calibri"/>
                <a:ea typeface="Calibri"/>
                <a:cs typeface="Calibri"/>
                <a:sym typeface="Calibri"/>
              </a:rPr>
              <a:t>obstacle (sonar)</a:t>
            </a:r>
            <a:endParaRPr sz="1000" b="0" i="0" u="none" strike="noStrike" cap="none" spc="0">
              <a:solidFill>
                <a:schemeClr val="dk1"/>
              </a:solidFill>
              <a:latin typeface="Calibri"/>
              <a:ea typeface="Calibri"/>
              <a:cs typeface="Calibri"/>
              <a:sym typeface="Calibri"/>
            </a:endParaRPr>
          </a:p>
        </p:txBody>
      </p:sp>
      <p:sp>
        <p:nvSpPr>
          <p:cNvPr id="382" name="Google Shape;382;p11"/>
          <p:cNvSpPr/>
          <p:nvPr/>
        </p:nvSpPr>
        <p:spPr>
          <a:xfrm>
            <a:off x="1901952" y="4370832"/>
            <a:ext cx="146304" cy="146304"/>
          </a:xfrm>
          <a:prstGeom prst="rect">
            <a:avLst/>
          </a:prstGeom>
          <a:solidFill>
            <a:srgbClr val="FFD9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83" name="Google Shape;383;p11"/>
          <p:cNvSpPr txBox="1"/>
          <p:nvPr/>
        </p:nvSpPr>
        <p:spPr>
          <a:xfrm>
            <a:off x="2103120" y="4315968"/>
            <a:ext cx="114300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000"/>
              <a:buFont typeface="Calibri"/>
              <a:buNone/>
            </a:pPr>
            <a:r>
              <a:rPr lang="en-US" sz="1000" b="0" i="0" u="none" strike="noStrike" cap="none" spc="0">
                <a:solidFill>
                  <a:srgbClr val="5B6573"/>
                </a:solidFill>
                <a:latin typeface="Calibri"/>
                <a:ea typeface="Calibri"/>
                <a:cs typeface="Calibri"/>
                <a:sym typeface="Calibri"/>
              </a:rPr>
              <a:t>+ robot radius</a:t>
            </a:r>
            <a:endParaRPr sz="1000" b="0" i="0" u="none" strike="noStrike" cap="none" spc="0">
              <a:solidFill>
                <a:schemeClr val="dk1"/>
              </a:solidFill>
              <a:latin typeface="Calibri"/>
              <a:ea typeface="Calibri"/>
              <a:cs typeface="Calibri"/>
              <a:sym typeface="Calibri"/>
            </a:endParaRPr>
          </a:p>
        </p:txBody>
      </p:sp>
      <p:sp>
        <p:nvSpPr>
          <p:cNvPr id="384" name="Google Shape;384;p11"/>
          <p:cNvSpPr/>
          <p:nvPr/>
        </p:nvSpPr>
        <p:spPr>
          <a:xfrm>
            <a:off x="3255264" y="4370832"/>
            <a:ext cx="146304" cy="146304"/>
          </a:xfrm>
          <a:prstGeom prst="rect">
            <a:avLst/>
          </a:prstGeom>
          <a:solidFill>
            <a:srgbClr val="14B8A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385" name="Google Shape;385;p11"/>
          <p:cNvSpPr txBox="1"/>
          <p:nvPr/>
        </p:nvSpPr>
        <p:spPr>
          <a:xfrm>
            <a:off x="3456432" y="4315968"/>
            <a:ext cx="114300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5B6573"/>
              </a:buClr>
              <a:buSzPts val="1000"/>
              <a:buFont typeface="Calibri"/>
              <a:buNone/>
            </a:pPr>
            <a:r>
              <a:rPr lang="en-US" sz="1000" b="0" i="0" u="none" strike="noStrike" cap="none" spc="0">
                <a:solidFill>
                  <a:srgbClr val="5B6573"/>
                </a:solidFill>
                <a:latin typeface="Calibri"/>
                <a:ea typeface="Calibri"/>
                <a:cs typeface="Calibri"/>
                <a:sym typeface="Calibri"/>
              </a:rPr>
              <a:t>A* path</a:t>
            </a:r>
            <a:endParaRPr sz="1000" b="0" i="0" u="none" strike="noStrike" cap="none" spc="0">
              <a:solidFill>
                <a:schemeClr val="dk1"/>
              </a:solidFill>
              <a:latin typeface="Calibri"/>
              <a:ea typeface="Calibri"/>
              <a:cs typeface="Calibri"/>
              <a:sym typeface="Calibri"/>
            </a:endParaRPr>
          </a:p>
        </p:txBody>
      </p:sp>
      <p:sp>
        <p:nvSpPr>
          <p:cNvPr id="386" name="Google Shape;386;p11"/>
          <p:cNvSpPr txBox="1"/>
          <p:nvPr/>
        </p:nvSpPr>
        <p:spPr>
          <a:xfrm>
            <a:off x="4754880" y="1371600"/>
            <a:ext cx="502920"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2000"/>
              <a:buFont typeface="Courier New"/>
              <a:buNone/>
            </a:pPr>
            <a:r>
              <a:rPr lang="en-US" sz="2000" b="1" i="0" u="none" strike="noStrike" cap="none" spc="0">
                <a:solidFill>
                  <a:srgbClr val="FF5A1F"/>
                </a:solidFill>
                <a:latin typeface="Courier New"/>
                <a:ea typeface="Courier New"/>
                <a:cs typeface="Courier New"/>
                <a:sym typeface="Courier New"/>
              </a:rPr>
              <a:t>01</a:t>
            </a:r>
            <a:endParaRPr sz="2000" b="0" i="0" u="none" strike="noStrike" cap="none" spc="0">
              <a:solidFill>
                <a:schemeClr val="dk1"/>
              </a:solidFill>
              <a:latin typeface="Calibri"/>
              <a:ea typeface="Calibri"/>
              <a:cs typeface="Calibri"/>
              <a:sym typeface="Calibri"/>
            </a:endParaRPr>
          </a:p>
        </p:txBody>
      </p:sp>
      <p:sp>
        <p:nvSpPr>
          <p:cNvPr id="387" name="Google Shape;387;p11"/>
          <p:cNvSpPr txBox="1"/>
          <p:nvPr/>
        </p:nvSpPr>
        <p:spPr>
          <a:xfrm>
            <a:off x="5303520" y="1371600"/>
            <a:ext cx="329184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Localize</a:t>
            </a:r>
            <a:endParaRPr sz="1500" b="0" i="0" u="none" strike="noStrike" cap="none" spc="0">
              <a:solidFill>
                <a:schemeClr val="dk1"/>
              </a:solidFill>
              <a:latin typeface="Calibri"/>
              <a:ea typeface="Calibri"/>
              <a:cs typeface="Calibri"/>
              <a:sym typeface="Calibri"/>
            </a:endParaRPr>
          </a:p>
        </p:txBody>
      </p:sp>
      <p:sp>
        <p:nvSpPr>
          <p:cNvPr id="388" name="Google Shape;388;p11"/>
          <p:cNvSpPr txBox="1"/>
          <p:nvPr/>
        </p:nvSpPr>
        <p:spPr>
          <a:xfrm>
            <a:off x="5303520" y="1645920"/>
            <a:ext cx="329184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4 corner markers → homography → rover position in cm, heading within a few degrees.</a:t>
            </a:r>
            <a:endParaRPr sz="1100" b="0" i="0" u="none" strike="noStrike" cap="none" spc="0">
              <a:solidFill>
                <a:schemeClr val="dk1"/>
              </a:solidFill>
              <a:latin typeface="Calibri"/>
              <a:ea typeface="Calibri"/>
              <a:cs typeface="Calibri"/>
              <a:sym typeface="Calibri"/>
            </a:endParaRPr>
          </a:p>
        </p:txBody>
      </p:sp>
      <p:sp>
        <p:nvSpPr>
          <p:cNvPr id="389" name="Google Shape;389;p11"/>
          <p:cNvSpPr txBox="1"/>
          <p:nvPr/>
        </p:nvSpPr>
        <p:spPr>
          <a:xfrm>
            <a:off x="4754880" y="2148840"/>
            <a:ext cx="502920"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2000"/>
              <a:buFont typeface="Courier New"/>
              <a:buNone/>
            </a:pPr>
            <a:r>
              <a:rPr lang="en-US" sz="2000" b="1" i="0" u="none" strike="noStrike" cap="none" spc="0">
                <a:solidFill>
                  <a:srgbClr val="FF5A1F"/>
                </a:solidFill>
                <a:latin typeface="Courier New"/>
                <a:ea typeface="Courier New"/>
                <a:cs typeface="Courier New"/>
                <a:sym typeface="Courier New"/>
              </a:rPr>
              <a:t>02</a:t>
            </a:r>
            <a:endParaRPr sz="2000" b="0" i="0" u="none" strike="noStrike" cap="none" spc="0">
              <a:solidFill>
                <a:schemeClr val="dk1"/>
              </a:solidFill>
              <a:latin typeface="Calibri"/>
              <a:ea typeface="Calibri"/>
              <a:cs typeface="Calibri"/>
              <a:sym typeface="Calibri"/>
            </a:endParaRPr>
          </a:p>
        </p:txBody>
      </p:sp>
      <p:sp>
        <p:nvSpPr>
          <p:cNvPr id="390" name="Google Shape;390;p11"/>
          <p:cNvSpPr txBox="1"/>
          <p:nvPr/>
        </p:nvSpPr>
        <p:spPr>
          <a:xfrm>
            <a:off x="5303520" y="2148840"/>
            <a:ext cx="329184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Map</a:t>
            </a:r>
            <a:endParaRPr sz="1500" b="0" i="0" u="none" strike="noStrike" cap="none" spc="0">
              <a:solidFill>
                <a:schemeClr val="dk1"/>
              </a:solidFill>
              <a:latin typeface="Calibri"/>
              <a:ea typeface="Calibri"/>
              <a:cs typeface="Calibri"/>
              <a:sym typeface="Calibri"/>
            </a:endParaRPr>
          </a:p>
        </p:txBody>
      </p:sp>
      <p:sp>
        <p:nvSpPr>
          <p:cNvPr id="391" name="Google Shape;391;p11"/>
          <p:cNvSpPr txBox="1"/>
          <p:nvPr/>
        </p:nvSpPr>
        <p:spPr>
          <a:xfrm>
            <a:off x="5303520" y="2423160"/>
            <a:ext cx="329184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Every echo lands at its true floor position. 3 echoes confirm a cell; free rays erase noise.</a:t>
            </a:r>
            <a:endParaRPr sz="1100" b="0" i="0" u="none" strike="noStrike" cap="none" spc="0">
              <a:solidFill>
                <a:schemeClr val="dk1"/>
              </a:solidFill>
              <a:latin typeface="Calibri"/>
              <a:ea typeface="Calibri"/>
              <a:cs typeface="Calibri"/>
              <a:sym typeface="Calibri"/>
            </a:endParaRPr>
          </a:p>
        </p:txBody>
      </p:sp>
      <p:sp>
        <p:nvSpPr>
          <p:cNvPr id="392" name="Google Shape;392;p11"/>
          <p:cNvSpPr txBox="1"/>
          <p:nvPr/>
        </p:nvSpPr>
        <p:spPr>
          <a:xfrm>
            <a:off x="4754880" y="2926080"/>
            <a:ext cx="502920"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2000"/>
              <a:buFont typeface="Courier New"/>
              <a:buNone/>
            </a:pPr>
            <a:r>
              <a:rPr lang="en-US" sz="2000" b="1" i="0" u="none" strike="noStrike" cap="none" spc="0">
                <a:solidFill>
                  <a:srgbClr val="FF5A1F"/>
                </a:solidFill>
                <a:latin typeface="Courier New"/>
                <a:ea typeface="Courier New"/>
                <a:cs typeface="Courier New"/>
                <a:sym typeface="Courier New"/>
              </a:rPr>
              <a:t>03</a:t>
            </a:r>
            <a:endParaRPr sz="2000" b="0" i="0" u="none" strike="noStrike" cap="none" spc="0">
              <a:solidFill>
                <a:schemeClr val="dk1"/>
              </a:solidFill>
              <a:latin typeface="Calibri"/>
              <a:ea typeface="Calibri"/>
              <a:cs typeface="Calibri"/>
              <a:sym typeface="Calibri"/>
            </a:endParaRPr>
          </a:p>
        </p:txBody>
      </p:sp>
      <p:sp>
        <p:nvSpPr>
          <p:cNvPr id="393" name="Google Shape;393;p11"/>
          <p:cNvSpPr txBox="1"/>
          <p:nvPr/>
        </p:nvSpPr>
        <p:spPr>
          <a:xfrm>
            <a:off x="5303520" y="2926080"/>
            <a:ext cx="329184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Plan</a:t>
            </a:r>
            <a:endParaRPr sz="1500" b="0" i="0" u="none" strike="noStrike" cap="none" spc="0">
              <a:solidFill>
                <a:schemeClr val="dk1"/>
              </a:solidFill>
              <a:latin typeface="Calibri"/>
              <a:ea typeface="Calibri"/>
              <a:cs typeface="Calibri"/>
              <a:sym typeface="Calibri"/>
            </a:endParaRPr>
          </a:p>
        </p:txBody>
      </p:sp>
      <p:sp>
        <p:nvSpPr>
          <p:cNvPr id="394" name="Google Shape;394;p11"/>
          <p:cNvSpPr txBox="1"/>
          <p:nvPr/>
        </p:nvSpPr>
        <p:spPr>
          <a:xfrm>
            <a:off x="5303520" y="3200400"/>
            <a:ext cx="329184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A* on a 5 cm grid, inflated by the robot radius, smoothed into straight legs.</a:t>
            </a:r>
            <a:endParaRPr sz="1100" b="0" i="0" u="none" strike="noStrike" cap="none" spc="0">
              <a:solidFill>
                <a:schemeClr val="dk1"/>
              </a:solidFill>
              <a:latin typeface="Calibri"/>
              <a:ea typeface="Calibri"/>
              <a:cs typeface="Calibri"/>
              <a:sym typeface="Calibri"/>
            </a:endParaRPr>
          </a:p>
        </p:txBody>
      </p:sp>
      <p:sp>
        <p:nvSpPr>
          <p:cNvPr id="395" name="Google Shape;395;p11"/>
          <p:cNvSpPr txBox="1"/>
          <p:nvPr/>
        </p:nvSpPr>
        <p:spPr>
          <a:xfrm>
            <a:off x="4754880" y="3703320"/>
            <a:ext cx="502920"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2000"/>
              <a:buFont typeface="Courier New"/>
              <a:buNone/>
            </a:pPr>
            <a:r>
              <a:rPr lang="en-US" sz="2000" b="1" i="0" u="none" strike="noStrike" cap="none" spc="0">
                <a:solidFill>
                  <a:srgbClr val="FF5A1F"/>
                </a:solidFill>
                <a:latin typeface="Courier New"/>
                <a:ea typeface="Courier New"/>
                <a:cs typeface="Courier New"/>
                <a:sym typeface="Courier New"/>
              </a:rPr>
              <a:t>04</a:t>
            </a:r>
            <a:endParaRPr sz="2000" b="0" i="0" u="none" strike="noStrike" cap="none" spc="0">
              <a:solidFill>
                <a:schemeClr val="dk1"/>
              </a:solidFill>
              <a:latin typeface="Calibri"/>
              <a:ea typeface="Calibri"/>
              <a:cs typeface="Calibri"/>
              <a:sym typeface="Calibri"/>
            </a:endParaRPr>
          </a:p>
        </p:txBody>
      </p:sp>
      <p:sp>
        <p:nvSpPr>
          <p:cNvPr id="396" name="Google Shape;396;p11"/>
          <p:cNvSpPr txBox="1"/>
          <p:nvPr/>
        </p:nvSpPr>
        <p:spPr>
          <a:xfrm>
            <a:off x="5303520" y="3703320"/>
            <a:ext cx="329184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500"/>
              <a:buFont typeface="Calibri"/>
              <a:buNone/>
            </a:pPr>
            <a:r>
              <a:rPr lang="en-US" sz="1500" b="1" i="0" u="none" strike="noStrike" cap="none" spc="0">
                <a:solidFill>
                  <a:schemeClr val="dk1"/>
                </a:solidFill>
                <a:latin typeface="Calibri"/>
                <a:ea typeface="Calibri"/>
                <a:cs typeface="Calibri"/>
                <a:sym typeface="Calibri"/>
              </a:rPr>
              <a:t>Drive</a:t>
            </a:r>
            <a:endParaRPr sz="1500" b="0" i="0" u="none" strike="noStrike" cap="none" spc="0">
              <a:solidFill>
                <a:schemeClr val="dk1"/>
              </a:solidFill>
              <a:latin typeface="Calibri"/>
              <a:ea typeface="Calibri"/>
              <a:cs typeface="Calibri"/>
              <a:sym typeface="Calibri"/>
            </a:endParaRPr>
          </a:p>
        </p:txBody>
      </p:sp>
      <p:sp>
        <p:nvSpPr>
          <p:cNvPr id="397" name="Google Shape;397;p11"/>
          <p:cNvSpPr txBox="1"/>
          <p:nvPr/>
        </p:nvSpPr>
        <p:spPr>
          <a:xfrm>
            <a:off x="5303520" y="3977640"/>
            <a:ext cx="329184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Straight to the next corner, stop, pulse-turn — heading checked by the camera every frame.</a:t>
            </a:r>
            <a:endParaRPr sz="11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12"/>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i="0" u="none" strike="noStrike" cap="none" spc="100">
                <a:solidFill>
                  <a:schemeClr val="accent1"/>
                </a:solidFill>
                <a:latin typeface="Courier New"/>
                <a:ea typeface="Courier New"/>
                <a:cs typeface="Courier New"/>
                <a:sym typeface="Courier New"/>
              </a:rPr>
              <a:t>0</a:t>
            </a:r>
            <a:r>
              <a:rPr lang="en-US" sz="1100" b="1" spc="100">
                <a:solidFill>
                  <a:schemeClr val="accent1"/>
                </a:solidFill>
                <a:latin typeface="Courier New"/>
                <a:ea typeface="Courier New"/>
                <a:cs typeface="Courier New"/>
                <a:sym typeface="Courier New"/>
              </a:rPr>
              <a:t>5</a:t>
            </a:r>
            <a:r>
              <a:rPr lang="en-US" sz="1100" b="1" i="0" u="none" strike="noStrike" cap="none" spc="100">
                <a:solidFill>
                  <a:schemeClr val="accent1"/>
                </a:solidFill>
                <a:latin typeface="Courier New"/>
                <a:ea typeface="Courier New"/>
                <a:cs typeface="Courier New"/>
                <a:sym typeface="Courier New"/>
              </a:rPr>
              <a:t> · REAL-WORLD APPLICATIONS</a:t>
            </a:r>
            <a:endParaRPr sz="1100" b="0" i="0" u="none" strike="noStrike" cap="none" spc="0">
              <a:solidFill>
                <a:schemeClr val="dk1"/>
              </a:solidFill>
              <a:latin typeface="Calibri"/>
              <a:ea typeface="Calibri"/>
              <a:cs typeface="Calibri"/>
              <a:sym typeface="Calibri"/>
            </a:endParaRPr>
          </a:p>
        </p:txBody>
      </p:sp>
      <p:sp>
        <p:nvSpPr>
          <p:cNvPr id="404" name="Google Shape;404;p12"/>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Start indoors, where cameras already exist</a:t>
            </a:r>
            <a:endParaRPr sz="3000"/>
          </a:p>
        </p:txBody>
      </p:sp>
      <p:sp>
        <p:nvSpPr>
          <p:cNvPr id="405" name="Google Shape;405;p12"/>
          <p:cNvSpPr txBox="1"/>
          <p:nvPr/>
        </p:nvSpPr>
        <p:spPr>
          <a:xfrm>
            <a:off x="548640" y="1371600"/>
            <a:ext cx="365760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8A94A3"/>
              </a:buClr>
              <a:buSzPts val="1000"/>
              <a:buFont typeface="Courier New"/>
              <a:buNone/>
            </a:pPr>
            <a:r>
              <a:rPr lang="en-US" sz="1000" b="1" i="0" u="none" strike="noStrike" cap="none" spc="0">
                <a:solidFill>
                  <a:srgbClr val="8A94A3"/>
                </a:solidFill>
                <a:latin typeface="Courier New"/>
                <a:ea typeface="Courier New"/>
                <a:cs typeface="Courier New"/>
                <a:sym typeface="Courier New"/>
              </a:rPr>
              <a:t>WHERE IT FITS</a:t>
            </a:r>
            <a:endParaRPr sz="1000" b="0" i="0" u="none" strike="noStrike" cap="none" spc="0">
              <a:solidFill>
                <a:schemeClr val="dk1"/>
              </a:solidFill>
              <a:latin typeface="Calibri"/>
              <a:ea typeface="Calibri"/>
              <a:cs typeface="Calibri"/>
              <a:sym typeface="Calibri"/>
            </a:endParaRPr>
          </a:p>
        </p:txBody>
      </p:sp>
      <p:sp>
        <p:nvSpPr>
          <p:cNvPr id="406" name="Google Shape;406;p12"/>
          <p:cNvSpPr/>
          <p:nvPr/>
        </p:nvSpPr>
        <p:spPr>
          <a:xfrm>
            <a:off x="548640" y="2633472"/>
            <a:ext cx="457200" cy="45720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407" name="Google Shape;407;p12" descr="preencoded.png"/>
          <p:cNvPicPr preferRelativeResize="0"/>
          <p:nvPr/>
        </p:nvPicPr>
        <p:blipFill rotWithShape="1">
          <a:blip r:embed="rId3">
            <a:alphaModFix/>
          </a:blip>
          <a:srcRect/>
          <a:stretch/>
        </p:blipFill>
        <p:spPr>
          <a:xfrm>
            <a:off x="672084" y="2756916"/>
            <a:ext cx="210312" cy="210312"/>
          </a:xfrm>
          <a:prstGeom prst="rect">
            <a:avLst/>
          </a:prstGeom>
          <a:noFill/>
          <a:ln>
            <a:noFill/>
          </a:ln>
        </p:spPr>
      </p:pic>
      <p:sp>
        <p:nvSpPr>
          <p:cNvPr id="408" name="Google Shape;408;p12"/>
          <p:cNvSpPr txBox="1"/>
          <p:nvPr/>
        </p:nvSpPr>
        <p:spPr>
          <a:xfrm>
            <a:off x="1143000" y="1719072"/>
            <a:ext cx="31089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Offices · first pilot</a:t>
            </a:r>
            <a:endParaRPr sz="1400" b="0" i="0" u="none" strike="noStrike" cap="none" spc="0">
              <a:solidFill>
                <a:schemeClr val="dk1"/>
              </a:solidFill>
              <a:latin typeface="Calibri"/>
              <a:ea typeface="Calibri"/>
              <a:cs typeface="Calibri"/>
              <a:sym typeface="Calibri"/>
            </a:endParaRPr>
          </a:p>
        </p:txBody>
      </p:sp>
      <p:sp>
        <p:nvSpPr>
          <p:cNvPr id="409" name="Google Shape;409;p12"/>
          <p:cNvSpPr txBox="1"/>
          <p:nvPr/>
        </p:nvSpPr>
        <p:spPr>
          <a:xfrm>
            <a:off x="1143000" y="1993392"/>
            <a:ext cx="31089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Cleaning or delivery robots guided by the building's own cameras.</a:t>
            </a:r>
            <a:endParaRPr sz="1100" b="0" i="0" u="none" strike="noStrike" cap="none" spc="0">
              <a:solidFill>
                <a:schemeClr val="dk1"/>
              </a:solidFill>
              <a:latin typeface="Calibri"/>
              <a:ea typeface="Calibri"/>
              <a:cs typeface="Calibri"/>
              <a:sym typeface="Calibri"/>
            </a:endParaRPr>
          </a:p>
        </p:txBody>
      </p:sp>
      <p:sp>
        <p:nvSpPr>
          <p:cNvPr id="410" name="Google Shape;410;p12"/>
          <p:cNvSpPr/>
          <p:nvPr/>
        </p:nvSpPr>
        <p:spPr>
          <a:xfrm>
            <a:off x="548640" y="1737360"/>
            <a:ext cx="457200" cy="45720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411" name="Google Shape;411;p12" descr="preencoded.png"/>
          <p:cNvPicPr preferRelativeResize="0"/>
          <p:nvPr/>
        </p:nvPicPr>
        <p:blipFill rotWithShape="1">
          <a:blip r:embed="rId4">
            <a:alphaModFix/>
          </a:blip>
          <a:srcRect/>
          <a:stretch/>
        </p:blipFill>
        <p:spPr>
          <a:xfrm>
            <a:off x="672084" y="1860804"/>
            <a:ext cx="210312" cy="210312"/>
          </a:xfrm>
          <a:prstGeom prst="rect">
            <a:avLst/>
          </a:prstGeom>
          <a:noFill/>
          <a:ln>
            <a:noFill/>
          </a:ln>
        </p:spPr>
      </p:pic>
      <p:sp>
        <p:nvSpPr>
          <p:cNvPr id="412" name="Google Shape;412;p12"/>
          <p:cNvSpPr txBox="1"/>
          <p:nvPr/>
        </p:nvSpPr>
        <p:spPr>
          <a:xfrm>
            <a:off x="1143000" y="2615184"/>
            <a:ext cx="31089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Warehouses</a:t>
            </a:r>
            <a:endParaRPr sz="1400" b="0" i="0" u="none" strike="noStrike" cap="none" spc="0">
              <a:solidFill>
                <a:schemeClr val="dk1"/>
              </a:solidFill>
              <a:latin typeface="Calibri"/>
              <a:ea typeface="Calibri"/>
              <a:cs typeface="Calibri"/>
              <a:sym typeface="Calibri"/>
            </a:endParaRPr>
          </a:p>
        </p:txBody>
      </p:sp>
      <p:sp>
        <p:nvSpPr>
          <p:cNvPr id="413" name="Google Shape;413;p12"/>
          <p:cNvSpPr txBox="1"/>
          <p:nvPr/>
        </p:nvSpPr>
        <p:spPr>
          <a:xfrm>
            <a:off x="1143000" y="2889504"/>
            <a:ext cx="31089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Transport carts on floors with fixed camera coverage.</a:t>
            </a:r>
            <a:endParaRPr sz="1100" b="0" i="0" u="none" strike="noStrike" cap="none" spc="0">
              <a:solidFill>
                <a:schemeClr val="dk1"/>
              </a:solidFill>
              <a:latin typeface="Calibri"/>
              <a:ea typeface="Calibri"/>
              <a:cs typeface="Calibri"/>
              <a:sym typeface="Calibri"/>
            </a:endParaRPr>
          </a:p>
        </p:txBody>
      </p:sp>
      <p:sp>
        <p:nvSpPr>
          <p:cNvPr id="414" name="Google Shape;414;p12"/>
          <p:cNvSpPr/>
          <p:nvPr/>
        </p:nvSpPr>
        <p:spPr>
          <a:xfrm>
            <a:off x="548640" y="3529584"/>
            <a:ext cx="457200" cy="457200"/>
          </a:xfrm>
          <a:prstGeom prst="ellipse">
            <a:avLst/>
          </a:prstGeom>
          <a:solidFill>
            <a:srgbClr val="11141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pic>
        <p:nvPicPr>
          <p:cNvPr id="415" name="Google Shape;415;p12" descr="preencoded.png"/>
          <p:cNvPicPr preferRelativeResize="0"/>
          <p:nvPr/>
        </p:nvPicPr>
        <p:blipFill rotWithShape="1">
          <a:blip r:embed="rId5">
            <a:alphaModFix/>
          </a:blip>
          <a:srcRect/>
          <a:stretch/>
        </p:blipFill>
        <p:spPr>
          <a:xfrm>
            <a:off x="672084" y="3653028"/>
            <a:ext cx="210312" cy="210312"/>
          </a:xfrm>
          <a:prstGeom prst="rect">
            <a:avLst/>
          </a:prstGeom>
          <a:noFill/>
          <a:ln>
            <a:noFill/>
          </a:ln>
        </p:spPr>
      </p:pic>
      <p:sp>
        <p:nvSpPr>
          <p:cNvPr id="416" name="Google Shape;416;p12"/>
          <p:cNvSpPr txBox="1"/>
          <p:nvPr/>
        </p:nvSpPr>
        <p:spPr>
          <a:xfrm>
            <a:off x="1143000" y="3511296"/>
            <a:ext cx="31089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dk1"/>
              </a:buClr>
              <a:buSzPts val="1400"/>
              <a:buFont typeface="Calibri"/>
              <a:buNone/>
            </a:pPr>
            <a:r>
              <a:rPr lang="en-US" sz="1400" b="1" i="0" u="none" strike="noStrike" cap="none" spc="0">
                <a:solidFill>
                  <a:schemeClr val="dk1"/>
                </a:solidFill>
                <a:latin typeface="Calibri"/>
                <a:ea typeface="Calibri"/>
                <a:cs typeface="Calibri"/>
                <a:sym typeface="Calibri"/>
              </a:rPr>
              <a:t>Shared residential spaces</a:t>
            </a:r>
            <a:endParaRPr sz="1400" b="0" i="0" u="none" strike="noStrike" cap="none" spc="0">
              <a:solidFill>
                <a:schemeClr val="dk1"/>
              </a:solidFill>
              <a:latin typeface="Calibri"/>
              <a:ea typeface="Calibri"/>
              <a:cs typeface="Calibri"/>
              <a:sym typeface="Calibri"/>
            </a:endParaRPr>
          </a:p>
        </p:txBody>
      </p:sp>
      <p:sp>
        <p:nvSpPr>
          <p:cNvPr id="417" name="Google Shape;417;p12"/>
          <p:cNvSpPr txBox="1"/>
          <p:nvPr/>
        </p:nvSpPr>
        <p:spPr>
          <a:xfrm>
            <a:off x="1143000" y="3785616"/>
            <a:ext cx="31089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Corridors and lobbies with operator-run cameras.</a:t>
            </a:r>
            <a:endParaRPr sz="1100" b="0" i="0" u="none" strike="noStrike" cap="none" spc="0">
              <a:solidFill>
                <a:schemeClr val="dk1"/>
              </a:solidFill>
              <a:latin typeface="Calibri"/>
              <a:ea typeface="Calibri"/>
              <a:cs typeface="Calibri"/>
              <a:sym typeface="Calibri"/>
            </a:endParaRPr>
          </a:p>
        </p:txBody>
      </p:sp>
      <p:sp>
        <p:nvSpPr>
          <p:cNvPr id="418" name="Google Shape;418;p12"/>
          <p:cNvSpPr/>
          <p:nvPr/>
        </p:nvSpPr>
        <p:spPr>
          <a:xfrm>
            <a:off x="4754880" y="1371600"/>
            <a:ext cx="3840480" cy="3108960"/>
          </a:xfrm>
          <a:prstGeom prst="rect">
            <a:avLst/>
          </a:prstGeom>
          <a:solidFill>
            <a:srgbClr val="FFF1E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19" name="Google Shape;419;p12"/>
          <p:cNvSpPr txBox="1"/>
          <p:nvPr/>
        </p:nvSpPr>
        <p:spPr>
          <a:xfrm>
            <a:off x="4983480" y="1554480"/>
            <a:ext cx="338328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5A1F"/>
              </a:buClr>
              <a:buSzPts val="1000"/>
              <a:buFont typeface="Courier New"/>
              <a:buNone/>
            </a:pPr>
            <a:r>
              <a:rPr lang="en-US" sz="1000" b="1" i="0" u="none" strike="noStrike" cap="none" spc="0">
                <a:solidFill>
                  <a:srgbClr val="FF5A1F"/>
                </a:solidFill>
                <a:latin typeface="Courier New"/>
                <a:ea typeface="Courier New"/>
                <a:cs typeface="Courier New"/>
                <a:sym typeface="Courier New"/>
              </a:rPr>
              <a:t>DEPLOYMENT NEEDS</a:t>
            </a:r>
            <a:endParaRPr sz="1000" b="0" i="0" u="none" strike="noStrike" cap="none" spc="0">
              <a:solidFill>
                <a:schemeClr val="dk1"/>
              </a:solidFill>
              <a:latin typeface="Calibri"/>
              <a:ea typeface="Calibri"/>
              <a:cs typeface="Calibri"/>
              <a:sym typeface="Calibri"/>
            </a:endParaRPr>
          </a:p>
        </p:txBody>
      </p:sp>
      <p:sp>
        <p:nvSpPr>
          <p:cNvPr id="420" name="Google Shape;420;p12"/>
          <p:cNvSpPr/>
          <p:nvPr/>
        </p:nvSpPr>
        <p:spPr>
          <a:xfrm>
            <a:off x="4983480" y="1920240"/>
            <a:ext cx="320040" cy="320040"/>
          </a:xfrm>
          <a:prstGeom prst="ellipse">
            <a:avLst/>
          </a:prstGeom>
          <a:solidFill>
            <a:srgbClr val="FF5A1F"/>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300"/>
              <a:buFont typeface="Calibri"/>
              <a:buNone/>
            </a:pPr>
            <a:r>
              <a:rPr lang="en-US" sz="1300" b="1" i="0" u="none" strike="noStrike" cap="none" spc="0">
                <a:solidFill>
                  <a:srgbClr val="FFFFFF"/>
                </a:solidFill>
                <a:latin typeface="Calibri"/>
                <a:ea typeface="Calibri"/>
                <a:cs typeface="Calibri"/>
                <a:sym typeface="Calibri"/>
              </a:rPr>
              <a:t>1</a:t>
            </a:r>
            <a:endParaRPr sz="1300" b="0" i="0" u="none" strike="noStrike" cap="none" spc="0">
              <a:solidFill>
                <a:schemeClr val="dk1"/>
              </a:solidFill>
              <a:latin typeface="Calibri"/>
              <a:ea typeface="Calibri"/>
              <a:cs typeface="Calibri"/>
              <a:sym typeface="Calibri"/>
            </a:endParaRPr>
          </a:p>
        </p:txBody>
      </p:sp>
      <p:sp>
        <p:nvSpPr>
          <p:cNvPr id="421" name="Google Shape;421;p12"/>
          <p:cNvSpPr txBox="1"/>
          <p:nvPr/>
        </p:nvSpPr>
        <p:spPr>
          <a:xfrm>
            <a:off x="5440680" y="1892808"/>
            <a:ext cx="29718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0" i="0" u="none" strike="noStrike" cap="none" spc="0">
                <a:solidFill>
                  <a:schemeClr val="dk1"/>
                </a:solidFill>
                <a:latin typeface="Calibri"/>
                <a:ea typeface="Calibri"/>
                <a:cs typeface="Calibri"/>
                <a:sym typeface="Calibri"/>
              </a:rPr>
              <a:t>Camera views that cover the floor</a:t>
            </a:r>
            <a:endParaRPr sz="1200" b="0" i="0" u="none" strike="noStrike" cap="none" spc="0">
              <a:solidFill>
                <a:schemeClr val="dk1"/>
              </a:solidFill>
              <a:latin typeface="Calibri"/>
              <a:ea typeface="Calibri"/>
              <a:cs typeface="Calibri"/>
              <a:sym typeface="Calibri"/>
            </a:endParaRPr>
          </a:p>
        </p:txBody>
      </p:sp>
      <p:sp>
        <p:nvSpPr>
          <p:cNvPr id="422" name="Google Shape;422;p12"/>
          <p:cNvSpPr/>
          <p:nvPr/>
        </p:nvSpPr>
        <p:spPr>
          <a:xfrm>
            <a:off x="4983480" y="2542032"/>
            <a:ext cx="320040" cy="320040"/>
          </a:xfrm>
          <a:prstGeom prst="ellipse">
            <a:avLst/>
          </a:prstGeom>
          <a:solidFill>
            <a:srgbClr val="FF5A1F"/>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300"/>
              <a:buFont typeface="Calibri"/>
              <a:buNone/>
            </a:pPr>
            <a:r>
              <a:rPr lang="en-US" sz="1300" b="1" i="0" u="none" strike="noStrike" cap="none" spc="0">
                <a:solidFill>
                  <a:srgbClr val="FFFFFF"/>
                </a:solidFill>
                <a:latin typeface="Calibri"/>
                <a:ea typeface="Calibri"/>
                <a:cs typeface="Calibri"/>
                <a:sym typeface="Calibri"/>
              </a:rPr>
              <a:t>2</a:t>
            </a:r>
            <a:endParaRPr sz="1300" b="0" i="0" u="none" strike="noStrike" cap="none" spc="0">
              <a:solidFill>
                <a:schemeClr val="dk1"/>
              </a:solidFill>
              <a:latin typeface="Calibri"/>
              <a:ea typeface="Calibri"/>
              <a:cs typeface="Calibri"/>
              <a:sym typeface="Calibri"/>
            </a:endParaRPr>
          </a:p>
        </p:txBody>
      </p:sp>
      <p:sp>
        <p:nvSpPr>
          <p:cNvPr id="423" name="Google Shape;423;p12"/>
          <p:cNvSpPr txBox="1"/>
          <p:nvPr/>
        </p:nvSpPr>
        <p:spPr>
          <a:xfrm>
            <a:off x="5440680" y="2514600"/>
            <a:ext cx="29718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0" i="0" u="none" strike="noStrike" cap="none" spc="0">
                <a:solidFill>
                  <a:schemeClr val="dk1"/>
                </a:solidFill>
                <a:latin typeface="Calibri"/>
                <a:ea typeface="Calibri"/>
                <a:cs typeface="Calibri"/>
                <a:sym typeface="Calibri"/>
              </a:rPr>
              <a:t>Calibration for each camera</a:t>
            </a:r>
            <a:endParaRPr sz="1200" b="0" i="0" u="none" strike="noStrike" cap="none" spc="0">
              <a:solidFill>
                <a:schemeClr val="dk1"/>
              </a:solidFill>
              <a:latin typeface="Calibri"/>
              <a:ea typeface="Calibri"/>
              <a:cs typeface="Calibri"/>
              <a:sym typeface="Calibri"/>
            </a:endParaRPr>
          </a:p>
        </p:txBody>
      </p:sp>
      <p:sp>
        <p:nvSpPr>
          <p:cNvPr id="424" name="Google Shape;424;p12"/>
          <p:cNvSpPr/>
          <p:nvPr/>
        </p:nvSpPr>
        <p:spPr>
          <a:xfrm>
            <a:off x="4983480" y="3163824"/>
            <a:ext cx="320040" cy="320040"/>
          </a:xfrm>
          <a:prstGeom prst="ellipse">
            <a:avLst/>
          </a:prstGeom>
          <a:solidFill>
            <a:srgbClr val="FF5A1F"/>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300"/>
              <a:buFont typeface="Calibri"/>
              <a:buNone/>
            </a:pPr>
            <a:r>
              <a:rPr lang="en-US" sz="1300" b="1" i="0" u="none" strike="noStrike" cap="none" spc="0">
                <a:solidFill>
                  <a:srgbClr val="FFFFFF"/>
                </a:solidFill>
                <a:latin typeface="Calibri"/>
                <a:ea typeface="Calibri"/>
                <a:cs typeface="Calibri"/>
                <a:sym typeface="Calibri"/>
              </a:rPr>
              <a:t>3</a:t>
            </a:r>
            <a:endParaRPr sz="1300" b="0" i="0" u="none" strike="noStrike" cap="none" spc="0">
              <a:solidFill>
                <a:schemeClr val="dk1"/>
              </a:solidFill>
              <a:latin typeface="Calibri"/>
              <a:ea typeface="Calibri"/>
              <a:cs typeface="Calibri"/>
              <a:sym typeface="Calibri"/>
            </a:endParaRPr>
          </a:p>
        </p:txBody>
      </p:sp>
      <p:sp>
        <p:nvSpPr>
          <p:cNvPr id="425" name="Google Shape;425;p12"/>
          <p:cNvSpPr txBox="1"/>
          <p:nvPr/>
        </p:nvSpPr>
        <p:spPr>
          <a:xfrm>
            <a:off x="5440680" y="3136392"/>
            <a:ext cx="29718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0" i="0" u="none" strike="noStrike" cap="none" spc="0">
                <a:solidFill>
                  <a:schemeClr val="dk1"/>
                </a:solidFill>
                <a:latin typeface="Calibri"/>
                <a:ea typeface="Calibri"/>
                <a:cs typeface="Calibri"/>
                <a:sym typeface="Calibri"/>
              </a:rPr>
              <a:t>A reliable, low-latency link to each robot</a:t>
            </a:r>
            <a:endParaRPr sz="1200" b="0" i="0" u="none" strike="noStrike" cap="none" spc="0">
              <a:solidFill>
                <a:schemeClr val="dk1"/>
              </a:solidFill>
              <a:latin typeface="Calibri"/>
              <a:ea typeface="Calibri"/>
              <a:cs typeface="Calibri"/>
              <a:sym typeface="Calibri"/>
            </a:endParaRPr>
          </a:p>
        </p:txBody>
      </p:sp>
      <p:sp>
        <p:nvSpPr>
          <p:cNvPr id="426" name="Google Shape;426;p12"/>
          <p:cNvSpPr/>
          <p:nvPr/>
        </p:nvSpPr>
        <p:spPr>
          <a:xfrm>
            <a:off x="4983480" y="3785616"/>
            <a:ext cx="320040" cy="320040"/>
          </a:xfrm>
          <a:prstGeom prst="ellipse">
            <a:avLst/>
          </a:prstGeom>
          <a:solidFill>
            <a:srgbClr val="FF5A1F"/>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300"/>
              <a:buFont typeface="Calibri"/>
              <a:buNone/>
            </a:pPr>
            <a:r>
              <a:rPr lang="en-US" sz="1300" b="1" i="0" u="none" strike="noStrike" cap="none" spc="0">
                <a:solidFill>
                  <a:srgbClr val="FFFFFF"/>
                </a:solidFill>
                <a:latin typeface="Calibri"/>
                <a:ea typeface="Calibri"/>
                <a:cs typeface="Calibri"/>
                <a:sym typeface="Calibri"/>
              </a:rPr>
              <a:t>4</a:t>
            </a:r>
            <a:endParaRPr sz="1300" b="0" i="0" u="none" strike="noStrike" cap="none" spc="0">
              <a:solidFill>
                <a:schemeClr val="dk1"/>
              </a:solidFill>
              <a:latin typeface="Calibri"/>
              <a:ea typeface="Calibri"/>
              <a:cs typeface="Calibri"/>
              <a:sym typeface="Calibri"/>
            </a:endParaRPr>
          </a:p>
        </p:txBody>
      </p:sp>
      <p:sp>
        <p:nvSpPr>
          <p:cNvPr id="427" name="Google Shape;427;p12"/>
          <p:cNvSpPr txBox="1"/>
          <p:nvPr/>
        </p:nvSpPr>
        <p:spPr>
          <a:xfrm>
            <a:off x="5440680" y="3758184"/>
            <a:ext cx="29718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0" i="0" u="none" strike="noStrike" cap="none" spc="0">
                <a:solidFill>
                  <a:schemeClr val="dk1"/>
                </a:solidFill>
                <a:latin typeface="Calibri"/>
                <a:ea typeface="Calibri"/>
                <a:cs typeface="Calibri"/>
                <a:sym typeface="Calibri"/>
              </a:rPr>
              <a:t>Encoders or an IMU for camera blind spots</a:t>
            </a:r>
            <a:endParaRPr sz="12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13"/>
          <p:cNvSpPr txBox="1"/>
          <p:nvPr/>
        </p:nvSpPr>
        <p:spPr>
          <a:xfrm>
            <a:off x="548640" y="292608"/>
            <a:ext cx="8046720"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chemeClr val="accent1"/>
              </a:buClr>
              <a:buSzPts val="1100"/>
              <a:buFont typeface="Courier New"/>
              <a:buNone/>
            </a:pPr>
            <a:r>
              <a:rPr lang="en-US" sz="1100" b="1" spc="100">
                <a:solidFill>
                  <a:schemeClr val="accent1"/>
                </a:solidFill>
                <a:latin typeface="Courier New"/>
                <a:ea typeface="Courier New"/>
                <a:cs typeface="Courier New"/>
                <a:sym typeface="Courier New"/>
              </a:rPr>
              <a:t>06</a:t>
            </a:r>
            <a:r>
              <a:rPr lang="en-US" sz="1100" b="1" i="0" u="none" strike="noStrike" cap="none" spc="100">
                <a:solidFill>
                  <a:schemeClr val="accent1"/>
                </a:solidFill>
                <a:latin typeface="Courier New"/>
                <a:ea typeface="Courier New"/>
                <a:cs typeface="Courier New"/>
                <a:sym typeface="Courier New"/>
              </a:rPr>
              <a:t> · HOW WE GOT HERE</a:t>
            </a:r>
            <a:endParaRPr sz="1100" b="0" i="0" u="none" strike="noStrike" cap="none" spc="0">
              <a:solidFill>
                <a:schemeClr val="dk1"/>
              </a:solidFill>
              <a:latin typeface="Calibri"/>
              <a:ea typeface="Calibri"/>
              <a:cs typeface="Calibri"/>
              <a:sym typeface="Calibri"/>
            </a:endParaRPr>
          </a:p>
        </p:txBody>
      </p:sp>
      <p:sp>
        <p:nvSpPr>
          <p:cNvPr id="434" name="Google Shape;434;p13"/>
          <p:cNvSpPr txBox="1">
            <a:spLocks noGrp="1"/>
          </p:cNvSpPr>
          <p:nvPr>
            <p:ph type="title"/>
          </p:nvPr>
        </p:nvSpPr>
        <p:spPr>
          <a:xfrm>
            <a:off x="548640" y="566928"/>
            <a:ext cx="8046720" cy="566928"/>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chemeClr val="dk1"/>
              </a:buClr>
              <a:buSzPts val="3000"/>
              <a:buFont typeface="Arial"/>
              <a:buNone/>
            </a:pPr>
            <a:r>
              <a:rPr lang="en-US" sz="3000" b="1">
                <a:solidFill>
                  <a:schemeClr val="dk1"/>
                </a:solidFill>
              </a:rPr>
              <a:t>48 hours, three ideas, one that works</a:t>
            </a:r>
            <a:endParaRPr sz="3000"/>
          </a:p>
        </p:txBody>
      </p:sp>
      <p:cxnSp>
        <p:nvCxnSpPr>
          <p:cNvPr id="435" name="Google Shape;435;p13"/>
          <p:cNvCxnSpPr/>
          <p:nvPr/>
        </p:nvCxnSpPr>
        <p:spPr>
          <a:xfrm>
            <a:off x="1353312" y="1874520"/>
            <a:ext cx="6437376" cy="0"/>
          </a:xfrm>
          <a:prstGeom prst="straightConnector1">
            <a:avLst/>
          </a:prstGeom>
          <a:noFill/>
          <a:ln w="38100" cap="flat" cmpd="sng">
            <a:solidFill>
              <a:srgbClr val="EEF1F5"/>
            </a:solidFill>
            <a:prstDash val="solid"/>
            <a:round/>
            <a:headEnd type="none" w="sm" len="sm"/>
            <a:tailEnd type="none" w="sm" len="sm"/>
          </a:ln>
        </p:spPr>
      </p:cxnSp>
      <p:cxnSp>
        <p:nvCxnSpPr>
          <p:cNvPr id="436" name="Google Shape;436;p13"/>
          <p:cNvCxnSpPr/>
          <p:nvPr/>
        </p:nvCxnSpPr>
        <p:spPr>
          <a:xfrm>
            <a:off x="6181344" y="1874520"/>
            <a:ext cx="1609344" cy="0"/>
          </a:xfrm>
          <a:prstGeom prst="straightConnector1">
            <a:avLst/>
          </a:prstGeom>
          <a:noFill/>
          <a:ln w="38100" cap="flat" cmpd="sng">
            <a:solidFill>
              <a:srgbClr val="FF5A1F"/>
            </a:solidFill>
            <a:prstDash val="solid"/>
            <a:round/>
            <a:headEnd type="none" w="sm" len="sm"/>
            <a:tailEnd type="none" w="sm" len="sm"/>
          </a:ln>
        </p:spPr>
      </p:cxnSp>
      <p:sp>
        <p:nvSpPr>
          <p:cNvPr id="437" name="Google Shape;437;p13"/>
          <p:cNvSpPr txBox="1"/>
          <p:nvPr/>
        </p:nvSpPr>
        <p:spPr>
          <a:xfrm>
            <a:off x="548640" y="1389888"/>
            <a:ext cx="1609344"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8A94A3"/>
              </a:buClr>
              <a:buSzPts val="1000"/>
              <a:buFont typeface="Courier New"/>
              <a:buNone/>
            </a:pPr>
            <a:r>
              <a:rPr lang="en-US" sz="1000" b="1" i="0" u="none" strike="noStrike" cap="none" spc="0">
                <a:solidFill>
                  <a:srgbClr val="8A94A3"/>
                </a:solidFill>
                <a:latin typeface="Courier New"/>
                <a:ea typeface="Courier New"/>
                <a:cs typeface="Courier New"/>
                <a:sym typeface="Courier New"/>
              </a:rPr>
              <a:t>FRI 19:00</a:t>
            </a:r>
            <a:endParaRPr sz="1000" b="0" i="0" u="none" strike="noStrike" cap="none" spc="0">
              <a:solidFill>
                <a:schemeClr val="dk1"/>
              </a:solidFill>
              <a:latin typeface="Calibri"/>
              <a:ea typeface="Calibri"/>
              <a:cs typeface="Calibri"/>
              <a:sym typeface="Calibri"/>
            </a:endParaRPr>
          </a:p>
        </p:txBody>
      </p:sp>
      <p:sp>
        <p:nvSpPr>
          <p:cNvPr id="438" name="Google Shape;438;p13"/>
          <p:cNvSpPr/>
          <p:nvPr/>
        </p:nvSpPr>
        <p:spPr>
          <a:xfrm>
            <a:off x="1234440" y="1755648"/>
            <a:ext cx="237744" cy="237744"/>
          </a:xfrm>
          <a:prstGeom prst="ellipse">
            <a:avLst/>
          </a:prstGeom>
          <a:solidFill>
            <a:srgbClr val="FFFFFF"/>
          </a:solidFill>
          <a:ln w="25400" cap="flat" cmpd="sng">
            <a:solidFill>
              <a:srgbClr val="8A94A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39" name="Google Shape;439;p13"/>
          <p:cNvSpPr/>
          <p:nvPr/>
        </p:nvSpPr>
        <p:spPr>
          <a:xfrm>
            <a:off x="603504" y="2194560"/>
            <a:ext cx="1499616" cy="178308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40" name="Google Shape;440;p13"/>
          <p:cNvSpPr txBox="1"/>
          <p:nvPr/>
        </p:nvSpPr>
        <p:spPr>
          <a:xfrm>
            <a:off x="713232" y="2304288"/>
            <a:ext cx="12801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00"/>
              <a:buFont typeface="Calibri"/>
              <a:buNone/>
            </a:pPr>
            <a:r>
              <a:rPr lang="en-US" sz="1300" b="1" i="0" u="none" strike="noStrike" cap="none" spc="0">
                <a:solidFill>
                  <a:schemeClr val="dk1"/>
                </a:solidFill>
                <a:latin typeface="Calibri"/>
                <a:ea typeface="Calibri"/>
                <a:cs typeface="Calibri"/>
                <a:sym typeface="Calibri"/>
              </a:rPr>
              <a:t>Sonar + servo scanner</a:t>
            </a:r>
            <a:endParaRPr sz="1300" b="0" i="0" u="none" strike="noStrike" cap="none" spc="0">
              <a:solidFill>
                <a:schemeClr val="dk1"/>
              </a:solidFill>
              <a:latin typeface="Calibri"/>
              <a:ea typeface="Calibri"/>
              <a:cs typeface="Calibri"/>
              <a:sym typeface="Calibri"/>
            </a:endParaRPr>
          </a:p>
        </p:txBody>
      </p:sp>
      <p:sp>
        <p:nvSpPr>
          <p:cNvPr id="441" name="Google Shape;441;p13"/>
          <p:cNvSpPr txBox="1"/>
          <p:nvPr/>
        </p:nvSpPr>
        <p:spPr>
          <a:xfrm>
            <a:off x="713232" y="2834640"/>
            <a:ext cx="1280160" cy="10515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Sweeping HC-SR04 draws a polar map — only while standing still.</a:t>
            </a:r>
            <a:endParaRPr sz="1100" b="0" i="0" u="none" strike="noStrike" cap="none" spc="0">
              <a:solidFill>
                <a:schemeClr val="dk1"/>
              </a:solidFill>
              <a:latin typeface="Calibri"/>
              <a:ea typeface="Calibri"/>
              <a:cs typeface="Calibri"/>
              <a:sym typeface="Calibri"/>
            </a:endParaRPr>
          </a:p>
        </p:txBody>
      </p:sp>
      <p:sp>
        <p:nvSpPr>
          <p:cNvPr id="442" name="Google Shape;442;p13"/>
          <p:cNvSpPr txBox="1"/>
          <p:nvPr/>
        </p:nvSpPr>
        <p:spPr>
          <a:xfrm>
            <a:off x="2157984" y="1389888"/>
            <a:ext cx="1609344"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8A94A3"/>
              </a:buClr>
              <a:buSzPts val="1000"/>
              <a:buFont typeface="Courier New"/>
              <a:buNone/>
            </a:pPr>
            <a:r>
              <a:rPr lang="en-US" sz="1000" b="1" i="0" u="none" strike="noStrike" cap="none" spc="0">
                <a:solidFill>
                  <a:srgbClr val="8A94A3"/>
                </a:solidFill>
                <a:latin typeface="Courier New"/>
                <a:ea typeface="Courier New"/>
                <a:cs typeface="Courier New"/>
                <a:sym typeface="Courier New"/>
              </a:rPr>
              <a:t>SAT 14:00</a:t>
            </a:r>
            <a:endParaRPr sz="1000" b="0" i="0" u="none" strike="noStrike" cap="none" spc="0">
              <a:solidFill>
                <a:schemeClr val="dk1"/>
              </a:solidFill>
              <a:latin typeface="Calibri"/>
              <a:ea typeface="Calibri"/>
              <a:cs typeface="Calibri"/>
              <a:sym typeface="Calibri"/>
            </a:endParaRPr>
          </a:p>
        </p:txBody>
      </p:sp>
      <p:sp>
        <p:nvSpPr>
          <p:cNvPr id="443" name="Google Shape;443;p13"/>
          <p:cNvSpPr/>
          <p:nvPr/>
        </p:nvSpPr>
        <p:spPr>
          <a:xfrm>
            <a:off x="2843784" y="1755648"/>
            <a:ext cx="237744" cy="237744"/>
          </a:xfrm>
          <a:prstGeom prst="ellipse">
            <a:avLst/>
          </a:prstGeom>
          <a:solidFill>
            <a:srgbClr val="FFFFFF"/>
          </a:solidFill>
          <a:ln w="25400" cap="flat" cmpd="sng">
            <a:solidFill>
              <a:srgbClr val="8A94A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44" name="Google Shape;444;p13"/>
          <p:cNvSpPr/>
          <p:nvPr/>
        </p:nvSpPr>
        <p:spPr>
          <a:xfrm>
            <a:off x="2212848" y="2194560"/>
            <a:ext cx="1499616" cy="178308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45" name="Google Shape;445;p13"/>
          <p:cNvSpPr txBox="1"/>
          <p:nvPr/>
        </p:nvSpPr>
        <p:spPr>
          <a:xfrm>
            <a:off x="2322576" y="2304288"/>
            <a:ext cx="12801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00"/>
              <a:buFont typeface="Calibri"/>
              <a:buNone/>
            </a:pPr>
            <a:r>
              <a:rPr lang="en-US" sz="1300" b="1" i="0" u="none" strike="noStrike" cap="none" spc="0">
                <a:solidFill>
                  <a:schemeClr val="dk1"/>
                </a:solidFill>
                <a:latin typeface="Calibri"/>
                <a:ea typeface="Calibri"/>
                <a:cs typeface="Calibri"/>
                <a:sym typeface="Calibri"/>
              </a:rPr>
              <a:t>Chase a phone by Bluetoo</a:t>
            </a:r>
            <a:r>
              <a:rPr lang="en-US" sz="1300" b="1">
                <a:solidFill>
                  <a:schemeClr val="dk1"/>
                </a:solidFill>
                <a:latin typeface="Calibri"/>
                <a:ea typeface="Calibri"/>
                <a:cs typeface="Calibri"/>
                <a:sym typeface="Calibri"/>
              </a:rPr>
              <a:t>th / </a:t>
            </a:r>
            <a:r>
              <a:rPr lang="en-US" sz="1300" b="1" i="0" u="none" strike="noStrike" cap="none" spc="0">
                <a:solidFill>
                  <a:schemeClr val="dk1"/>
                </a:solidFill>
                <a:latin typeface="Calibri"/>
                <a:ea typeface="Calibri"/>
                <a:cs typeface="Calibri"/>
                <a:sym typeface="Calibri"/>
              </a:rPr>
              <a:t>Wi-Fi</a:t>
            </a:r>
            <a:endParaRPr sz="1300" b="0" i="0" u="none" strike="noStrike" cap="none" spc="0">
              <a:solidFill>
                <a:schemeClr val="dk1"/>
              </a:solidFill>
              <a:latin typeface="Calibri"/>
              <a:ea typeface="Calibri"/>
              <a:cs typeface="Calibri"/>
              <a:sym typeface="Calibri"/>
            </a:endParaRPr>
          </a:p>
        </p:txBody>
      </p:sp>
      <p:sp>
        <p:nvSpPr>
          <p:cNvPr id="446" name="Google Shape;446;p13"/>
          <p:cNvSpPr txBox="1"/>
          <p:nvPr/>
        </p:nvSpPr>
        <p:spPr>
          <a:xfrm>
            <a:off x="2322576" y="2834640"/>
            <a:ext cx="1280160" cy="10515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RSSI hunt</a:t>
            </a:r>
            <a:endParaRPr sz="1100" b="0" i="0" u="none" strike="noStrike" cap="none" spc="0">
              <a:solidFill>
                <a:schemeClr val="dk1"/>
              </a:solidFill>
              <a:latin typeface="Calibri"/>
              <a:ea typeface="Calibri"/>
              <a:cs typeface="Calibri"/>
              <a:sym typeface="Calibri"/>
            </a:endParaRPr>
          </a:p>
        </p:txBody>
      </p:sp>
      <p:sp>
        <p:nvSpPr>
          <p:cNvPr id="447" name="Google Shape;447;p13"/>
          <p:cNvSpPr txBox="1"/>
          <p:nvPr/>
        </p:nvSpPr>
        <p:spPr>
          <a:xfrm>
            <a:off x="3767328" y="1389888"/>
            <a:ext cx="1609344"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8A94A3"/>
              </a:buClr>
              <a:buSzPts val="1000"/>
              <a:buFont typeface="Courier New"/>
              <a:buNone/>
            </a:pPr>
            <a:r>
              <a:rPr lang="en-US" sz="1000" b="1" i="0" u="none" strike="noStrike" cap="none" spc="0">
                <a:solidFill>
                  <a:srgbClr val="8A94A3"/>
                </a:solidFill>
                <a:latin typeface="Courier New"/>
                <a:ea typeface="Courier New"/>
                <a:cs typeface="Courier New"/>
                <a:sym typeface="Courier New"/>
              </a:rPr>
              <a:t>SAT 19:00</a:t>
            </a:r>
            <a:endParaRPr sz="1000" b="0" i="0" u="none" strike="noStrike" cap="none" spc="0">
              <a:solidFill>
                <a:schemeClr val="dk1"/>
              </a:solidFill>
              <a:latin typeface="Calibri"/>
              <a:ea typeface="Calibri"/>
              <a:cs typeface="Calibri"/>
              <a:sym typeface="Calibri"/>
            </a:endParaRPr>
          </a:p>
        </p:txBody>
      </p:sp>
      <p:sp>
        <p:nvSpPr>
          <p:cNvPr id="448" name="Google Shape;448;p13"/>
          <p:cNvSpPr/>
          <p:nvPr/>
        </p:nvSpPr>
        <p:spPr>
          <a:xfrm>
            <a:off x="4453128" y="1755648"/>
            <a:ext cx="237744" cy="237744"/>
          </a:xfrm>
          <a:prstGeom prst="ellipse">
            <a:avLst/>
          </a:prstGeom>
          <a:solidFill>
            <a:srgbClr val="FFFFFF"/>
          </a:solidFill>
          <a:ln w="25400" cap="flat" cmpd="sng">
            <a:solidFill>
              <a:srgbClr val="8A94A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49" name="Google Shape;449;p13"/>
          <p:cNvSpPr/>
          <p:nvPr/>
        </p:nvSpPr>
        <p:spPr>
          <a:xfrm>
            <a:off x="3822192" y="2194560"/>
            <a:ext cx="1499616" cy="178308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50" name="Google Shape;450;p13"/>
          <p:cNvSpPr txBox="1"/>
          <p:nvPr/>
        </p:nvSpPr>
        <p:spPr>
          <a:xfrm>
            <a:off x="3931920" y="2304288"/>
            <a:ext cx="12801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00"/>
              <a:buFont typeface="Calibri"/>
              <a:buNone/>
            </a:pPr>
            <a:r>
              <a:rPr lang="en-US" sz="1300" b="1" i="0" u="none" strike="noStrike" cap="none" spc="0">
                <a:solidFill>
                  <a:schemeClr val="dk1"/>
                </a:solidFill>
                <a:latin typeface="Calibri"/>
                <a:ea typeface="Calibri"/>
                <a:cs typeface="Calibri"/>
                <a:sym typeface="Calibri"/>
              </a:rPr>
              <a:t>Reality check</a:t>
            </a:r>
            <a:endParaRPr sz="1300" b="0" i="0" u="none" strike="noStrike" cap="none" spc="0">
              <a:solidFill>
                <a:schemeClr val="dk1"/>
              </a:solidFill>
              <a:latin typeface="Calibri"/>
              <a:ea typeface="Calibri"/>
              <a:cs typeface="Calibri"/>
              <a:sym typeface="Calibri"/>
            </a:endParaRPr>
          </a:p>
        </p:txBody>
      </p:sp>
      <p:sp>
        <p:nvSpPr>
          <p:cNvPr id="451" name="Google Shape;451;p13"/>
          <p:cNvSpPr txBox="1"/>
          <p:nvPr/>
        </p:nvSpPr>
        <p:spPr>
          <a:xfrm>
            <a:off x="3931920" y="2834640"/>
            <a:ext cx="1280160" cy="10515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Rover spun and collided. −54 dBm at 1 m vs −60 at 3 m: too flat to steer by.</a:t>
            </a:r>
            <a:endParaRPr sz="1100" b="0" i="0" u="none" strike="noStrike" cap="none" spc="0">
              <a:solidFill>
                <a:schemeClr val="dk1"/>
              </a:solidFill>
              <a:latin typeface="Calibri"/>
              <a:ea typeface="Calibri"/>
              <a:cs typeface="Calibri"/>
              <a:sym typeface="Calibri"/>
            </a:endParaRPr>
          </a:p>
        </p:txBody>
      </p:sp>
      <p:sp>
        <p:nvSpPr>
          <p:cNvPr id="452" name="Google Shape;452;p13"/>
          <p:cNvSpPr txBox="1"/>
          <p:nvPr/>
        </p:nvSpPr>
        <p:spPr>
          <a:xfrm>
            <a:off x="5376672" y="1389888"/>
            <a:ext cx="1609344"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5A1F"/>
              </a:buClr>
              <a:buSzPts val="1000"/>
              <a:buFont typeface="Courier New"/>
              <a:buNone/>
            </a:pPr>
            <a:r>
              <a:rPr lang="en-US" sz="1000" b="1" i="0" u="none" strike="noStrike" cap="none" spc="0">
                <a:solidFill>
                  <a:srgbClr val="FF5A1F"/>
                </a:solidFill>
                <a:latin typeface="Courier New"/>
                <a:ea typeface="Courier New"/>
                <a:cs typeface="Courier New"/>
                <a:sym typeface="Courier New"/>
              </a:rPr>
              <a:t>SUN 10:00</a:t>
            </a:r>
            <a:endParaRPr sz="1000" b="0" i="0" u="none" strike="noStrike" cap="none" spc="0">
              <a:solidFill>
                <a:schemeClr val="dk1"/>
              </a:solidFill>
              <a:latin typeface="Calibri"/>
              <a:ea typeface="Calibri"/>
              <a:cs typeface="Calibri"/>
              <a:sym typeface="Calibri"/>
            </a:endParaRPr>
          </a:p>
        </p:txBody>
      </p:sp>
      <p:sp>
        <p:nvSpPr>
          <p:cNvPr id="453" name="Google Shape;453;p13"/>
          <p:cNvSpPr/>
          <p:nvPr/>
        </p:nvSpPr>
        <p:spPr>
          <a:xfrm>
            <a:off x="6062472" y="1755648"/>
            <a:ext cx="237744" cy="237744"/>
          </a:xfrm>
          <a:prstGeom prst="ellipse">
            <a:avLst/>
          </a:prstGeom>
          <a:solidFill>
            <a:srgbClr val="FF5A1F"/>
          </a:solidFill>
          <a:ln w="25400" cap="flat" cmpd="sng">
            <a:solidFill>
              <a:srgbClr val="FF5A1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54" name="Google Shape;454;p13"/>
          <p:cNvSpPr/>
          <p:nvPr/>
        </p:nvSpPr>
        <p:spPr>
          <a:xfrm>
            <a:off x="5431536" y="2194560"/>
            <a:ext cx="1499616" cy="1783080"/>
          </a:xfrm>
          <a:prstGeom prst="rect">
            <a:avLst/>
          </a:prstGeom>
          <a:solidFill>
            <a:srgbClr val="FFF1E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55" name="Google Shape;455;p13"/>
          <p:cNvSpPr txBox="1"/>
          <p:nvPr/>
        </p:nvSpPr>
        <p:spPr>
          <a:xfrm>
            <a:off x="5541264" y="2304288"/>
            <a:ext cx="12801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00"/>
              <a:buFont typeface="Calibri"/>
              <a:buNone/>
            </a:pPr>
            <a:r>
              <a:rPr lang="en-US" sz="1300" b="1" i="0" u="none" strike="noStrike" cap="none" spc="0">
                <a:solidFill>
                  <a:schemeClr val="dk1"/>
                </a:solidFill>
                <a:latin typeface="Calibri"/>
                <a:ea typeface="Calibri"/>
                <a:cs typeface="Calibri"/>
                <a:sym typeface="Calibri"/>
              </a:rPr>
              <a:t>Pivot: camera = GPS</a:t>
            </a:r>
            <a:endParaRPr sz="1300" b="0" i="0" u="none" strike="noStrike" cap="none" spc="0">
              <a:solidFill>
                <a:schemeClr val="dk1"/>
              </a:solidFill>
              <a:latin typeface="Calibri"/>
              <a:ea typeface="Calibri"/>
              <a:cs typeface="Calibri"/>
              <a:sym typeface="Calibri"/>
            </a:endParaRPr>
          </a:p>
        </p:txBody>
      </p:sp>
      <p:sp>
        <p:nvSpPr>
          <p:cNvPr id="456" name="Google Shape;456;p13"/>
          <p:cNvSpPr txBox="1"/>
          <p:nvPr/>
        </p:nvSpPr>
        <p:spPr>
          <a:xfrm>
            <a:off x="5541264" y="2834640"/>
            <a:ext cx="1280160" cy="10515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Phone tracks a marker on the rover; server plans with A*.</a:t>
            </a:r>
            <a:endParaRPr sz="1100" b="0" i="0" u="none" strike="noStrike" cap="none" spc="0">
              <a:solidFill>
                <a:schemeClr val="dk1"/>
              </a:solidFill>
              <a:latin typeface="Calibri"/>
              <a:ea typeface="Calibri"/>
              <a:cs typeface="Calibri"/>
              <a:sym typeface="Calibri"/>
            </a:endParaRPr>
          </a:p>
        </p:txBody>
      </p:sp>
      <p:sp>
        <p:nvSpPr>
          <p:cNvPr id="457" name="Google Shape;457;p13"/>
          <p:cNvSpPr txBox="1"/>
          <p:nvPr/>
        </p:nvSpPr>
        <p:spPr>
          <a:xfrm>
            <a:off x="6986016" y="1389888"/>
            <a:ext cx="1609344"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5A1F"/>
              </a:buClr>
              <a:buSzPts val="1000"/>
              <a:buFont typeface="Courier New"/>
              <a:buNone/>
            </a:pPr>
            <a:r>
              <a:rPr lang="en-US" sz="1000" b="1" i="0" u="none" strike="noStrike" cap="none" spc="0">
                <a:solidFill>
                  <a:srgbClr val="FF5A1F"/>
                </a:solidFill>
                <a:latin typeface="Courier New"/>
                <a:ea typeface="Courier New"/>
                <a:cs typeface="Courier New"/>
                <a:sym typeface="Courier New"/>
              </a:rPr>
              <a:t>SUN 13:00</a:t>
            </a:r>
            <a:endParaRPr sz="1000" b="0" i="0" u="none" strike="noStrike" cap="none" spc="0">
              <a:solidFill>
                <a:schemeClr val="dk1"/>
              </a:solidFill>
              <a:latin typeface="Calibri"/>
              <a:ea typeface="Calibri"/>
              <a:cs typeface="Calibri"/>
              <a:sym typeface="Calibri"/>
            </a:endParaRPr>
          </a:p>
        </p:txBody>
      </p:sp>
      <p:sp>
        <p:nvSpPr>
          <p:cNvPr id="458" name="Google Shape;458;p13"/>
          <p:cNvSpPr/>
          <p:nvPr/>
        </p:nvSpPr>
        <p:spPr>
          <a:xfrm>
            <a:off x="7671816" y="1755648"/>
            <a:ext cx="237744" cy="237744"/>
          </a:xfrm>
          <a:prstGeom prst="ellipse">
            <a:avLst/>
          </a:prstGeom>
          <a:solidFill>
            <a:srgbClr val="FF5A1F"/>
          </a:solidFill>
          <a:ln w="25400" cap="flat" cmpd="sng">
            <a:solidFill>
              <a:srgbClr val="FF5A1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59" name="Google Shape;459;p13"/>
          <p:cNvSpPr/>
          <p:nvPr/>
        </p:nvSpPr>
        <p:spPr>
          <a:xfrm>
            <a:off x="7040880" y="2194560"/>
            <a:ext cx="1499616" cy="1783080"/>
          </a:xfrm>
          <a:prstGeom prst="rect">
            <a:avLst/>
          </a:prstGeom>
          <a:solidFill>
            <a:srgbClr val="FFF1E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spc="0">
              <a:solidFill>
                <a:srgbClr val="000000"/>
              </a:solidFill>
              <a:latin typeface="Arial"/>
              <a:ea typeface="Arial"/>
              <a:cs typeface="Arial"/>
              <a:sym typeface="Arial"/>
            </a:endParaRPr>
          </a:p>
        </p:txBody>
      </p:sp>
      <p:sp>
        <p:nvSpPr>
          <p:cNvPr id="460" name="Google Shape;460;p13"/>
          <p:cNvSpPr txBox="1"/>
          <p:nvPr/>
        </p:nvSpPr>
        <p:spPr>
          <a:xfrm>
            <a:off x="7150608" y="2304288"/>
            <a:ext cx="1280160" cy="5029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00"/>
              <a:buFont typeface="Calibri"/>
              <a:buNone/>
            </a:pPr>
            <a:r>
              <a:rPr lang="en-US" sz="1300" b="1" i="0" u="none" strike="noStrike" cap="none" spc="0">
                <a:solidFill>
                  <a:schemeClr val="dk1"/>
                </a:solidFill>
                <a:latin typeface="Calibri"/>
                <a:ea typeface="Calibri"/>
                <a:cs typeface="Calibri"/>
                <a:sym typeface="Calibri"/>
              </a:rPr>
              <a:t>Tune on hardware</a:t>
            </a:r>
            <a:endParaRPr sz="1300" b="0" i="0" u="none" strike="noStrike" cap="none" spc="0">
              <a:solidFill>
                <a:schemeClr val="dk1"/>
              </a:solidFill>
              <a:latin typeface="Calibri"/>
              <a:ea typeface="Calibri"/>
              <a:cs typeface="Calibri"/>
              <a:sym typeface="Calibri"/>
            </a:endParaRPr>
          </a:p>
        </p:txBody>
      </p:sp>
      <p:sp>
        <p:nvSpPr>
          <p:cNvPr id="461" name="Google Shape;461;p13"/>
          <p:cNvSpPr txBox="1"/>
          <p:nvPr/>
        </p:nvSpPr>
        <p:spPr>
          <a:xfrm>
            <a:off x="7150608" y="2834640"/>
            <a:ext cx="1280160" cy="10515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B6573"/>
              </a:buClr>
              <a:buSzPts val="1100"/>
              <a:buFont typeface="Calibri"/>
              <a:buNone/>
            </a:pPr>
            <a:r>
              <a:rPr lang="en-US" sz="1100" b="0" i="0" u="none" strike="noStrike" cap="none" spc="0">
                <a:solidFill>
                  <a:srgbClr val="5B6573"/>
                </a:solidFill>
                <a:latin typeface="Calibri"/>
                <a:ea typeface="Calibri"/>
                <a:cs typeface="Calibri"/>
                <a:sym typeface="Calibri"/>
              </a:rPr>
              <a:t>3D-printed shell installation, self-calibration, pulse turns, straight-line legs.</a:t>
            </a:r>
            <a:endParaRPr sz="1100" b="0" i="0" u="none" strike="noStrike" cap="none" spc="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pic>
        <p:nvPicPr>
          <p:cNvPr id="467" name="Google Shape;467;p14"/>
          <p:cNvPicPr preferRelativeResize="0"/>
          <p:nvPr/>
        </p:nvPicPr>
        <p:blipFill>
          <a:blip r:embed="rId3">
            <a:alphaModFix/>
          </a:blip>
          <a:stretch>
            <a:fillRect/>
          </a:stretch>
        </p:blipFill>
        <p:spPr>
          <a:xfrm>
            <a:off x="738463" y="1493950"/>
            <a:ext cx="3173137" cy="2977064"/>
          </a:xfrm>
          <a:prstGeom prst="rect">
            <a:avLst/>
          </a:prstGeom>
          <a:noFill/>
          <a:ln>
            <a:noFill/>
          </a:ln>
        </p:spPr>
      </p:pic>
      <p:sp>
        <p:nvSpPr>
          <p:cNvPr id="468" name="Google Shape;468;p14"/>
          <p:cNvSpPr txBox="1"/>
          <p:nvPr/>
        </p:nvSpPr>
        <p:spPr>
          <a:xfrm>
            <a:off x="587972" y="306286"/>
            <a:ext cx="3474118" cy="110796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000" b="1" dirty="0">
                <a:solidFill>
                  <a:schemeClr val="lt1"/>
                </a:solidFill>
              </a:rPr>
              <a:t>Demonstration Live Map</a:t>
            </a:r>
            <a:endParaRPr sz="3000" b="1" dirty="0">
              <a:solidFill>
                <a:schemeClr val="lt1"/>
              </a:solidFill>
            </a:endParaRPr>
          </a:p>
        </p:txBody>
      </p:sp>
      <p:pic>
        <p:nvPicPr>
          <p:cNvPr id="4" name="Рисунок 3">
            <a:extLst>
              <a:ext uri="{FF2B5EF4-FFF2-40B4-BE49-F238E27FC236}">
                <a16:creationId xmlns:a16="http://schemas.microsoft.com/office/drawing/2014/main" id="{F772D97E-F600-D184-A671-E4F80C8CCFAA}"/>
              </a:ext>
            </a:extLst>
          </p:cNvPr>
          <p:cNvPicPr>
            <a:picLocks noChangeAspect="1"/>
          </p:cNvPicPr>
          <p:nvPr/>
        </p:nvPicPr>
        <p:blipFill>
          <a:blip r:embed="rId4"/>
          <a:stretch>
            <a:fillRect/>
          </a:stretch>
        </p:blipFill>
        <p:spPr>
          <a:xfrm>
            <a:off x="4961163" y="1487780"/>
            <a:ext cx="3173137" cy="2970894"/>
          </a:xfrm>
          <a:prstGeom prst="rect">
            <a:avLst/>
          </a:prstGeom>
        </p:spPr>
      </p:pic>
      <p:sp>
        <p:nvSpPr>
          <p:cNvPr id="6" name="TextBox 5">
            <a:extLst>
              <a:ext uri="{FF2B5EF4-FFF2-40B4-BE49-F238E27FC236}">
                <a16:creationId xmlns:a16="http://schemas.microsoft.com/office/drawing/2014/main" id="{C539ED48-0CD8-2B6B-D3CB-3AC795640648}"/>
              </a:ext>
            </a:extLst>
          </p:cNvPr>
          <p:cNvSpPr txBox="1"/>
          <p:nvPr/>
        </p:nvSpPr>
        <p:spPr>
          <a:xfrm>
            <a:off x="4762474" y="352436"/>
            <a:ext cx="3570513" cy="1015663"/>
          </a:xfrm>
          <a:prstGeom prst="rect">
            <a:avLst/>
          </a:prstGeom>
          <a:noFill/>
        </p:spPr>
        <p:txBody>
          <a:bodyPr wrap="square">
            <a:spAutoFit/>
          </a:bodyPr>
          <a:lstStyle/>
          <a:p>
            <a:pPr marL="0" lvl="0" indent="0" algn="ctr" rtl="0">
              <a:spcBef>
                <a:spcPts val="0"/>
              </a:spcBef>
              <a:spcAft>
                <a:spcPts val="0"/>
              </a:spcAft>
              <a:buNone/>
            </a:pPr>
            <a:r>
              <a:rPr lang="en-US" sz="3000" b="1" dirty="0">
                <a:solidFill>
                  <a:schemeClr val="lt1"/>
                </a:solidFill>
              </a:rPr>
              <a:t>Video</a:t>
            </a:r>
          </a:p>
          <a:p>
            <a:pPr marL="0" lvl="0" indent="0" algn="ctr" rtl="0">
              <a:spcBef>
                <a:spcPts val="0"/>
              </a:spcBef>
              <a:spcAft>
                <a:spcPts val="0"/>
              </a:spcAft>
              <a:buNone/>
            </a:pPr>
            <a:r>
              <a:rPr lang="en-US" sz="3000" b="1" dirty="0">
                <a:solidFill>
                  <a:schemeClr val="lt1"/>
                </a:solidFill>
              </a:rPr>
              <a:t>(pre-recorded)</a:t>
            </a:r>
          </a:p>
        </p:txBody>
      </p:sp>
    </p:spTree>
  </p:cSld>
  <p:clrMapOvr>
    <a:masterClrMapping/>
  </p:clrMapOvr>
</p:sld>
</file>

<file path=ppt/theme/theme1.xml><?xml version="1.0" encoding="utf-8"?>
<a:theme xmlns:a="http://schemas.openxmlformats.org/drawingml/2006/main"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1202</Words>
  <Application>Microsoft Office PowerPoint</Application>
  <PresentationFormat>Экран (16:9)</PresentationFormat>
  <Paragraphs>123</Paragraphs>
  <Slides>8</Slides>
  <Notes>8</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8</vt:i4>
      </vt:variant>
    </vt:vector>
  </HeadingPairs>
  <TitlesOfParts>
    <vt:vector size="12" baseType="lpstr">
      <vt:lpstr>Arial</vt:lpstr>
      <vt:lpstr>Calibri</vt:lpstr>
      <vt:lpstr>Courier New</vt:lpstr>
      <vt:lpstr>Vision Nav</vt:lpstr>
      <vt:lpstr>Vision Nav</vt:lpstr>
      <vt:lpstr>Reuse existing vision, don't rebuild it</vt:lpstr>
      <vt:lpstr>Phone, server, rover: one loop at 10 Hz</vt:lpstr>
      <vt:lpstr>Kit parts, our own shell</vt:lpstr>
      <vt:lpstr>Camera says where, sonar says what</vt:lpstr>
      <vt:lpstr>Start indoors, where cameras already exist</vt:lpstr>
      <vt:lpstr>48 hours, three ideas, one that works</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Oleg Rogov</cp:lastModifiedBy>
  <cp:revision>1</cp:revision>
  <dcterms:modified xsi:type="dcterms:W3CDTF">2026-10-11T13:20:50Z</dcterms:modified>
</cp:coreProperties>
</file>